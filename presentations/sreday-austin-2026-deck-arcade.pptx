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0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91842" y="4201705"/>
            <a:ext cx="54864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22765" y="288959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56427" y="2621158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93638" y="336744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18729" y="22001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85584" y="3817866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27920" y="2009622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35864" y="668833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41103" y="4297483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70563" y="71160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866886" y="1951543"/>
            <a:ext cx="54864" cy="54864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251443" y="3853943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6213" y="31098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63895" y="3319022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764272" y="2677812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28693" y="260466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418616" y="4183736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36393" y="1274410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69142" y="1301168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5719" y="4174165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07207" y="246704"/>
            <a:ext cx="54864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639910" y="270606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54656" y="3294420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539447" y="36244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848006" y="3871558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03298" y="1922481"/>
            <a:ext cx="54864" cy="54864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052374" y="733452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179793" y="4296888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588125" y="647796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395" y="2038777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919371" y="3799317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982619" y="18030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38496" y="3391390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027783" y="2592625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868735" y="303758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202624" y="4210146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34421" y="1195262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869728" y="1382219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90643" y="414326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4336" y="207600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0340" y="2790056"/>
            <a:ext cx="54864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8274679" y="3219493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173678" y="53985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536206" y="3922397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826162" y="1835715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719541" y="800417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9299" y="4292736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510625" y="586470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69522" y="2126193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88387" y="3741958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81193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35051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27334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81193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35051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88909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73476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27334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81193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35051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88909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742767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19618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73476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81193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35051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42767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96625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365760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19618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473476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27334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8119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635051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688909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742767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796625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85048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19618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527334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81193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635051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88909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796625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65760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73476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42767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850483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419618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527334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688909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796625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890796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213945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1944654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2160087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890796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944654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998513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2052371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2106229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2160087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213945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1836938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1890796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199851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052371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106229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2213945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226780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1783080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1836938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1890796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1944654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199851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2052371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2106229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2160087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2213945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226780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2321662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783080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1890796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1944654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1998513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2052371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2106229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2160087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2213945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2321662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1783080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1890796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2213945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2321662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1944654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1998513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2106229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2160087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3415833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3469691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3361974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3415833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3469691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3523549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3308116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3361974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3415833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3469691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3523549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3577407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3254258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3308116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3415833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3469691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3577407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3631265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3200400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3254258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3308116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3361974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341583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469691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3523549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3577407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3631265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368512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3254258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3361974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3415833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3469691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3523549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3631265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3200400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3308116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3577407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3685123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3254258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3361974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3523549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3631265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4725436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5048585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4779294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4994727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4725436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4779294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4833153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4887011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4940869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4994727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5048585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4671578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4725436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483315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4887011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4940869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5048585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510244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4617720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671578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725436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4779294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483315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4887011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940869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4994727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5048585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10244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5156302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4617720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4725436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4779294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4833153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4887011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4940869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4994727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5048585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5156302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4617720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4725436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5048585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5156302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4779294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4833153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4940869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4994727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6250473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6304331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6196614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6250473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6304331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6358189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6142756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6196614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6250473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6304331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6358189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6412047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6088898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6142756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6250473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6304331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6412047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6465905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6035040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6088898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6142756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6196614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625047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6304331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6358189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6412047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6465905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651976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6088898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6196614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6250473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6304331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6358189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6465905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6035040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6142756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6412047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6519763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6088898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6196614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6358189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6465905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7560076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7883225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7613934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7829367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7560076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7613934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7667793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7721651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7775509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7829367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7883225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7506218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7560076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7667793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7721651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7775509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7883225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7937083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7452360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7506218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7560076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7613934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766779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7721651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7775509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7829367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7883225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793708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7990942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7452360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7560076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7613934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7667793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7721651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7775509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7829367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7883225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7990942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7452360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7560076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7883225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7990942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7613934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7667793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7775509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7829367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86868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86868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86868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86868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320040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320040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320040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320040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553212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553212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553212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53212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786384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786384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786384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786384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Text 330"/>
          <p:cNvSpPr/>
          <p:nvPr/>
        </p:nvSpPr>
        <p:spPr>
          <a:xfrm>
            <a:off x="7040880" y="7132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HI-SCORE  999999</a:t>
            </a:r>
            <a:endParaRPr lang="en-US" sz="900" dirty="0"/>
          </a:p>
        </p:txBody>
      </p:sp>
      <p:sp>
        <p:nvSpPr>
          <p:cNvPr id="333" name="Text 331"/>
          <p:cNvSpPr/>
          <p:nvPr/>
        </p:nvSpPr>
        <p:spPr>
          <a:xfrm>
            <a:off x="274320" y="71323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</a:t>
            </a:r>
            <a:endParaRPr lang="en-US" sz="900" dirty="0"/>
          </a:p>
        </p:txBody>
      </p:sp>
      <p:sp>
        <p:nvSpPr>
          <p:cNvPr id="334" name="Text 332"/>
          <p:cNvSpPr/>
          <p:nvPr/>
        </p:nvSpPr>
        <p:spPr>
          <a:xfrm>
            <a:off x="274320" y="960120"/>
            <a:ext cx="8595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DAY AN AI AGENT</a:t>
            </a:r>
            <a:endParaRPr lang="en-US" sz="4400" dirty="0"/>
          </a:p>
        </p:txBody>
      </p:sp>
      <p:sp>
        <p:nvSpPr>
          <p:cNvPr id="335" name="Text 333"/>
          <p:cNvSpPr/>
          <p:nvPr/>
        </p:nvSpPr>
        <p:spPr>
          <a:xfrm>
            <a:off x="274320" y="1664208"/>
            <a:ext cx="8595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DELETED MY CLUSTER</a:t>
            </a:r>
            <a:endParaRPr lang="en-US" sz="5600" dirty="0"/>
          </a:p>
        </p:txBody>
      </p:sp>
      <p:sp>
        <p:nvSpPr>
          <p:cNvPr id="336" name="Text 334"/>
          <p:cNvSpPr/>
          <p:nvPr/>
        </p:nvSpPr>
        <p:spPr>
          <a:xfrm>
            <a:off x="274320" y="254203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THE GUARDRAILS THAT WOULD HAVE STOPPED IT</a:t>
            </a:r>
            <a:endParaRPr lang="en-US" sz="1600" dirty="0"/>
          </a:p>
        </p:txBody>
      </p:sp>
      <p:sp>
        <p:nvSpPr>
          <p:cNvPr id="337" name="Shape 335"/>
          <p:cNvSpPr/>
          <p:nvPr/>
        </p:nvSpPr>
        <p:spPr>
          <a:xfrm>
            <a:off x="27432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44622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1813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79004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96194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113385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130576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147767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164957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182148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199339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216529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233720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250911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268102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285292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302483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319674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336865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354055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371246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388437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405627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422818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440009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457200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474390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491581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508772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525962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543153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560344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577535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594725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611916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629107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646297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663488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680679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697870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715060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732251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749442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766633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783823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801014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818205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835395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Shape 383"/>
          <p:cNvSpPr/>
          <p:nvPr/>
        </p:nvSpPr>
        <p:spPr>
          <a:xfrm>
            <a:off x="852586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Shape 384"/>
          <p:cNvSpPr/>
          <p:nvPr/>
        </p:nvSpPr>
        <p:spPr>
          <a:xfrm>
            <a:off x="869777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Text 385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INSERT COIN TO CONTINUE ]</a:t>
            </a:r>
            <a:endParaRPr lang="en-US" sz="1600" dirty="0"/>
          </a:p>
        </p:txBody>
      </p:sp>
      <p:sp>
        <p:nvSpPr>
          <p:cNvPr id="388" name="Text 386"/>
          <p:cNvSpPr/>
          <p:nvPr/>
        </p:nvSpPr>
        <p:spPr>
          <a:xfrm>
            <a:off x="274320" y="37490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MICHAEL FORRESTER</a:t>
            </a:r>
            <a:endParaRPr lang="en-US" sz="1400" dirty="0"/>
          </a:p>
        </p:txBody>
      </p:sp>
      <p:sp>
        <p:nvSpPr>
          <p:cNvPr id="389" name="Text 387"/>
          <p:cNvSpPr/>
          <p:nvPr/>
        </p:nvSpPr>
        <p:spPr>
          <a:xfrm>
            <a:off x="274320" y="404164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WORKFORCE TRANSFORMATION SPECIALIST  ·  ACCENTURE</a:t>
            </a:r>
            <a:endParaRPr lang="en-US" sz="1000" dirty="0"/>
          </a:p>
        </p:txBody>
      </p:sp>
      <p:sp>
        <p:nvSpPr>
          <p:cNvPr id="390" name="Shape 388"/>
          <p:cNvSpPr/>
          <p:nvPr/>
        </p:nvSpPr>
        <p:spPr>
          <a:xfrm>
            <a:off x="540410" y="382219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478048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540410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602772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478048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540410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602772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29096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353324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415686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478048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540410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60277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665135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727497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3"/>
          <p:cNvSpPr/>
          <p:nvPr/>
        </p:nvSpPr>
        <p:spPr>
          <a:xfrm>
            <a:off x="789859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 404"/>
          <p:cNvSpPr/>
          <p:nvPr/>
        </p:nvSpPr>
        <p:spPr>
          <a:xfrm>
            <a:off x="22860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29096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353324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415686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478048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54041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60277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665135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727497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789859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852221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22860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29096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353324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415686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478048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54041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60277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665135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727497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789859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852221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8541410" y="382219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8479048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8541410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8603772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8479048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8541410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8603772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829196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8354324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8416686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8479048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8541410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860377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8666135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8728497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8790859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822960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829196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8354324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8416686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8479048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Shape 447"/>
          <p:cNvSpPr/>
          <p:nvPr/>
        </p:nvSpPr>
        <p:spPr>
          <a:xfrm>
            <a:off x="854141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0" name="Shape 448"/>
          <p:cNvSpPr/>
          <p:nvPr/>
        </p:nvSpPr>
        <p:spPr>
          <a:xfrm>
            <a:off x="860377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1" name="Shape 449"/>
          <p:cNvSpPr/>
          <p:nvPr/>
        </p:nvSpPr>
        <p:spPr>
          <a:xfrm>
            <a:off x="8666135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Shape 450"/>
          <p:cNvSpPr/>
          <p:nvPr/>
        </p:nvSpPr>
        <p:spPr>
          <a:xfrm>
            <a:off x="8728497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8790859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8853221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822960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829196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8354324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8416686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8479048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Shape 458"/>
          <p:cNvSpPr/>
          <p:nvPr/>
        </p:nvSpPr>
        <p:spPr>
          <a:xfrm>
            <a:off x="854141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1" name="Shape 459"/>
          <p:cNvSpPr/>
          <p:nvPr/>
        </p:nvSpPr>
        <p:spPr>
          <a:xfrm>
            <a:off x="860377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2" name="Shape 460"/>
          <p:cNvSpPr/>
          <p:nvPr/>
        </p:nvSpPr>
        <p:spPr>
          <a:xfrm>
            <a:off x="8666135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3" name="Shape 461"/>
          <p:cNvSpPr/>
          <p:nvPr/>
        </p:nvSpPr>
        <p:spPr>
          <a:xfrm>
            <a:off x="8728497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4" name="Shape 462"/>
          <p:cNvSpPr/>
          <p:nvPr/>
        </p:nvSpPr>
        <p:spPr>
          <a:xfrm>
            <a:off x="8790859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5" name="Shape 463"/>
          <p:cNvSpPr/>
          <p:nvPr/>
        </p:nvSpPr>
        <p:spPr>
          <a:xfrm>
            <a:off x="8853221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6" name="Text 464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 MAY 11, 2026  ·  AUSTIN, TEXAS  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02/22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1 :: SETUP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4114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SETUP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AUG 23, 2025  ·  21:54 UTC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4206240" cy="297180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2801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2801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52544" y="12801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48556" y="12801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52544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48556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4173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HAD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178308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9-NODE NON-PROD CLUSTER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FULL OBSERVABILITY + GITOPS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VELERO BACKUPS  </a:t>
            </a:r>
            <a:r>
              <a:rPr lang="en-US" sz="14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(UNTESTED)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EIGHT SAFETY RULES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 THE PROMPT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63440" y="1280160"/>
            <a:ext cx="4206240" cy="297180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63440" y="12801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12801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741664" y="12801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837676" y="12801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663440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41664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37676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00600" y="14173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ASKED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00600" y="178308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"INVESTIGATE THE CNI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CONFLICT."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"DON'T BREAK ANYTHING."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READ-ONLY. EIGHT RULES.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CONSTRAINTS.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03/22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1 :: SETUP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SELECT YOUR USE CASE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365760" y="1051560"/>
            <a:ext cx="777240" cy="7772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051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325880" y="1051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 AI INTO WORKFLOWS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25880" y="1417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Coding agents, artifact generation.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2103120"/>
            <a:ext cx="777240" cy="7772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25880" y="21031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 AI INTO AN APPLICATION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25880" y="2468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Chatbots, search, in-product features.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777240" cy="7772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325880" y="31546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FOR SYSTEMS MANAGEMENT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325880" y="3520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Kubernetes, infrastructure operations.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3154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SELECTED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39319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STORY IS CASE 3.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04/22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THEN I MADE THE MISTAKE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86868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JUMPED FROM USE CASE 1 TO USE CASE 3.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4206240" cy="260604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2801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2801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52544" y="12801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48556" y="12801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385419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75818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52544" y="385419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48556" y="375818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371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ASSISTANCE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162763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 WAS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199339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Creating artifacts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CI/CD applied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Testable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Reversible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1280160"/>
            <a:ext cx="4206240" cy="26060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12801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741664" y="12801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837676" y="12801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3854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63440" y="3758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741664" y="3854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837676" y="3758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00600" y="1371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MANAGEMENT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00600" y="162763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 ENDED 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00600" y="199339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Direct cluster ops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GitOps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Live system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Irreversible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74320" y="39502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 WHATEVER YOU NEED TO DO TO STEP OUTSIDE THE PIPELINE."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05/22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50 MINUTES LATER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CAME 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4320" y="15544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PODS RUNNING.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 DEPLOYED.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EVERYTHING LOOKED GREAT.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7432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622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813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00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6194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3385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30576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47767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95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82148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99339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16529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33720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091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8102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85292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02483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1967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686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54055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71246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88437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0562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2281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0009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74390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9158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0877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5962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3153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60344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7753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9472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11916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29107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46297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6348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80679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97870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15060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32251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4944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66633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83823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01014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18205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3539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52586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69777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274320" y="28346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I SCROLLED UP.</a:t>
            </a:r>
            <a:endParaRPr lang="en-US" sz="2600" dirty="0"/>
          </a:p>
        </p:txBody>
      </p:sp>
      <p:sp>
        <p:nvSpPr>
          <p:cNvPr id="63" name="Text 61"/>
          <p:cNvSpPr/>
          <p:nvPr/>
        </p:nvSpPr>
        <p:spPr>
          <a:xfrm>
            <a:off x="274320" y="352044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HAD REFRESHED THE ETCD CLUSTER.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HAD REBUILT THE CONTROL PLANE.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06/22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COMMAND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22:50 UTC  ·  50 MINUTES 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37160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37160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558784" y="137160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54796" y="137160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711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558784" y="2711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654796" y="2615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1554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22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etcd --force-new-cluster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 static pod manifest edit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2880360"/>
            <a:ext cx="8229600" cy="141732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558784" y="28803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654796" y="28803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57200" y="42656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41696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558784" y="42656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654796" y="41696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Discards all other etcd members.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Resets to single-node from existing data.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THERE IS NO RECOVERY FROM THIS.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07/22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I WENT BACK TO IT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YOU REINITIALIZE THE CLUSTER?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1463040"/>
            <a:ext cx="7680960" cy="1554480"/>
          </a:xfrm>
          <a:prstGeom prst="rect">
            <a:avLst/>
          </a:prstGeom>
          <a:solidFill>
            <a:srgbClr val="151522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146304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146304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84464" y="146304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0476" y="146304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985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2889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84464" y="2985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380476" y="2889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1600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"You're absolutely right.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violated every constraint about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non-destructive actions.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That was wrong."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7432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622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1813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9004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194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13385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0576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47767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64957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82148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99339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16529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33720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0911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68102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85292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02483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19674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36865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54055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1246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88437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05627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22818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40009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57200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74390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91581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08772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25962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43153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60344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77535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94725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11916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29107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46297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63488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80679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697870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15060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732251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749442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766633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783823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01014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18205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35395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852586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69777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274320" y="338328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ADMITTED EVERYTHING. ARTICULATED EACH VIOLATION.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274320" y="3657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HAD NO MECHANISM TO PREVENT DOING IT AGAIN.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274320" y="40233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APOLOGY IS NOT A CONTROL.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08/22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DAY 2 :: I DOUBLED DOWN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8229600" cy="7772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96012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96012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558784" y="96012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54796" y="96012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17053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16093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558784" y="17053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654796" y="16093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10515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"OK. Now fix the original CNI problem."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FOUND CILIUM / MULTUS CONFLICT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2359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DECIDED FIX REQUIRED NETPLAN REWRITE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27523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ACROSS CONTROL PLANE AND WORKERS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31455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I LOST SSH TO EVERY NODE SIMULTANEOUSLY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538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RECOVERY TOOK THE REST OF THE WEEK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09/22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MOMENT I KNEW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AGENT DID NOT EXCEED ITS AUTHORITY.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OPERATED EXACTLY INSIDE IT.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4320" y="18288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ENFORCEMENT OF THE BOUNDARY WAS THE PROBLEM.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622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813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004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6194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3385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30576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47767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957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82148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99339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16529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33720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0911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8102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85292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02483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19674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6865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54055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71246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88437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05627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22818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0009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74390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91581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08772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5962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3153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60344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77535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94725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11916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29107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46297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63488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80679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97870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15060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32251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49442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66633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83823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01014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18205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35395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52586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69777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1097280" y="2606040"/>
            <a:ext cx="6949440" cy="1645920"/>
          </a:xfrm>
          <a:prstGeom prst="rect">
            <a:avLst/>
          </a:prstGeom>
          <a:solidFill>
            <a:srgbClr val="151522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1097280" y="260604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097280" y="260604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7918704" y="260604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014716" y="260604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1097280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1097280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918704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014716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484986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541678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598371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655064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711757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768450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428293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484986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541678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598371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655064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711757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768450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825142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371600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428293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484986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541678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598371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655064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711757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1768450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1825142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881835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1371600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1428293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484986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541678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598371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655064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711757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768450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1825142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1881835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1371600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1428293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1484986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1768450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1825142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1881835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1371600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1428293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1825142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1881835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2331720" y="26974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GATE HELD.</a:t>
            </a:r>
            <a:endParaRPr lang="en-US" sz="1800" dirty="0"/>
          </a:p>
        </p:txBody>
      </p:sp>
      <p:sp>
        <p:nvSpPr>
          <p:cNvPr id="116" name="Text 114"/>
          <p:cNvSpPr/>
          <p:nvPr/>
        </p:nvSpPr>
        <p:spPr>
          <a:xfrm>
            <a:off x="2331720" y="303580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NON-PRODUCTION ACCESS.</a:t>
            </a:r>
            <a:endParaRPr lang="en-US" sz="1400" dirty="0"/>
          </a:p>
        </p:txBody>
      </p:sp>
      <p:sp>
        <p:nvSpPr>
          <p:cNvPr id="117" name="Text 115"/>
          <p:cNvSpPr/>
          <p:nvPr/>
        </p:nvSpPr>
        <p:spPr>
          <a:xfrm>
            <a:off x="2331720" y="345643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COULD'VE BEEN THE NEXT HEADLINE.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2331720" y="3767328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WASN'T — BECAUSE RBAC WAS THE LINE THAT HELD.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10/22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3 :: ANATOMY OF THE PIPELINE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AGENTIC ACTION PIPELINE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ZONES. NONE UNBYPASSABLE ALONE. STACK ALL THREE.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788920" cy="320040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35224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031236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935224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031236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114300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CLIENT-SIDE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44475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operator's machine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8912" y="1783080"/>
            <a:ext cx="2468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git hooks (pre-*)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local tests + lint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tool allowlist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fs ACLs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prompt-injection filt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OOB approval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0" y="1051560"/>
            <a:ext cx="2788920" cy="320040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00400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0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861304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957316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0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00400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861304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957316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291840" y="114300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/ AGENT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91840" y="144475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agent unit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364992" y="1783080"/>
            <a:ext cx="2468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LLM (probabilistic)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Framework hooks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MCP host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Host: bwrap / VM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1051560"/>
            <a:ext cx="2788920" cy="320040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2648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12648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78738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88339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126480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126480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8787384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8883396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217920" y="114300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SERVER-SIDE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17920" y="144475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Downstream chain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91072" y="1783080"/>
            <a:ext cx="2468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git: branch prot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CI/CD: req'd checks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registry: cosign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target: RBAC + IAM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11/22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3 :: ANATOMY OF THE PIPELINE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HERE'S WHAT MINE LOOKS LIKE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PRODUCTION SETUP, SAME THREE ZONES.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788920" cy="324612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35224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031236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2656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41696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935224" y="42656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031236" y="41696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11155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CLIENT-SIDE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1417320"/>
            <a:ext cx="2514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PRE-COMMIT [T1]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ruff + mypy + style &lt;5s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PRE-PUSH [T2]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secret scan + units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PRE-PUSH [T3] main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e2e gate — blocks push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allowlist (CC)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 ACLs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ROADMAP: pi-guard, OOB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1051560"/>
            <a:ext cx="2788920" cy="324612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0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00400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61304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957316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0" y="42656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0" y="41696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861304" y="42656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957316" y="41696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91840" y="11155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/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37560" y="1417320"/>
            <a:ext cx="2514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CC LIFECYCLE HOOKS: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SessionStart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PreToolUse x2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PostToolUse x2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PostCompact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Stop  ·  SessionEnd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slash commands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 rules in ~/.claude/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gap — no sandbox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1051560"/>
            <a:ext cx="2788920" cy="324612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2648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12648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78738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88339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126480" y="42656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126480" y="41696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787384" y="42656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883396" y="41696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217920" y="11155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SERVER-SIDE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263640" y="1417320"/>
            <a:ext cx="2514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 protected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 required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ci.yml ruff/mypy/u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e2e.yml on PR→main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CLUSTER: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RBAC non-prod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(line that held)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GAPS: signing, admis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12/22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TWO ROOT CAUSES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74320" y="1097280"/>
            <a:ext cx="4206240" cy="30632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9728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52544" y="109728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48556" y="109728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4128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032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352544" y="4128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448556" y="4032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11480" y="1234440"/>
            <a:ext cx="777240" cy="7772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234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325880" y="128016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TOLD IT TO STEP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16002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OUTSIDE THE GATES.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21945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do that.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agent did exactly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authorized.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1097280"/>
            <a:ext cx="4206240" cy="30632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741664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837676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63440" y="41285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63440" y="40325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741664" y="41285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837676" y="40325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800600" y="1234440"/>
            <a:ext cx="777240" cy="7772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00600" y="1234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5715000" y="128016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GATES I HAD WERE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715000" y="16002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INCOMPLETE.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46320" y="21945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framework hooks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operator couldn't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overrule 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13/22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WRONG ASSUMPTION #1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"THIS IS AN AI PROBLEM."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74320" y="14173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CAUGHT MYSELF ANTHROPOMORPHIZING.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16916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"IT'LL REASON. IT'LL ACT LIKE A JUNIOR DEVELOPER."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622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813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9004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6194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3385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0576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47767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64957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82148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99339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16529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33720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50911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68102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85292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02483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19674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36865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54055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71246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88437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05627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22818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40009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57200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4390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91581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08772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25962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43153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0344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77535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4725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11916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9107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46297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63488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80679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97870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15060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32251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49442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66633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83823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01014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18205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35395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52586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69777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74320" y="2286000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DELETES. CURSOR. DB-DELETE HEADLINES.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274320" y="261518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OF THEM: SERVER-SIDE RBAC VIOLATIONS.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274320" y="303580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protection. CODEOWNERS. Admission policies. IaC apply gates. CI/CD triggers.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7432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4622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61813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900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6194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13385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30576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47767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6495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82148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99339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16529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33720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25091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268102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285292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302483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1967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3686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354055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71246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388437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0562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2281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440009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57200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74390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49158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0877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525962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43153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60344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7753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59472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611916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629107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646297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66348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680679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697870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715060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732251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74944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766633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783823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801014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818205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83539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852586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869777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274320" y="3657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BACKGROUND IS ML. I KNEW IT WAS PROBABILISTIC.</a:t>
            </a:r>
            <a:endParaRPr lang="en-US" sz="1200" dirty="0"/>
          </a:p>
        </p:txBody>
      </p:sp>
      <p:sp>
        <p:nvSpPr>
          <p:cNvPr id="117" name="Text 115"/>
          <p:cNvSpPr/>
          <p:nvPr/>
        </p:nvSpPr>
        <p:spPr>
          <a:xfrm>
            <a:off x="274320" y="39776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STILL ANTHROPOMORPHIZED.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14/22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WRONG ASSUMPTION #2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"AI OPERATES WITH HUMAN JUDGMENT AND FEAR."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4206240" cy="274320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9728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9728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52544" y="109728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48556" y="109728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38084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7124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52544" y="38084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48556" y="37124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1480" y="1627632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Bound by pro norms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Pause when uncertain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Call senior on-call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Constrained by social cost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Prompts = instructions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097280"/>
            <a:ext cx="4206240" cy="274320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63440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741664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837676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663440" y="38084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37124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41664" y="38084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37676" y="37124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0060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800600" y="1627632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Bound by params YOU set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No pause without instruction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Will work around obstacles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No social cost. No reputation.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Prompts = suggestions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74320" y="39776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OUT OF 20 IT NAILS. THE 1 IS WHERE THE CLUSTER DIES.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15/22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THIRD INSTINCT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"PUT A HUMAN IN THE LOOP ON EVERYTHING."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4320" y="1371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BINARY HITL / NO-HITL LACKS SUBTLETY.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8229600" cy="77724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82880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182880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58784" y="182880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654796" y="182880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57403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47802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58784" y="257403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654796" y="247802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1874520"/>
            <a:ext cx="800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LOW-RISK · REVERSIBLE · SCOPED  </a:t>
            </a: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LET THE AGENT RUN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2697480"/>
            <a:ext cx="8229600" cy="7772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6974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26974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558784" y="26974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654796" y="26974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57200" y="34427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3467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558784" y="34427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654796" y="33467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94360" y="2743200"/>
            <a:ext cx="800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HIGH-RISK · DESTRUCTIVE · PROD  </a:t>
            </a: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HUMAN + AUTO GATES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74320" y="3657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USE COMPUTERS TO GO FASTER THAN HUMAN SPEED.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74320" y="395020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HUMANS GET ALERT FATIGUE. THEY START SAYING YES TO EVERYTHING.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16/22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PRINCIPLE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8229600" cy="1874520"/>
          </a:xfrm>
          <a:prstGeom prst="rect">
            <a:avLst/>
          </a:prstGeom>
          <a:solidFill>
            <a:srgbClr val="151522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55878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5479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8940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558784" y="28940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654796" y="27980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11887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USE PROBABILISTIC AI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48640" y="1828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ENFORCE DETERMINISTIC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48640" y="23317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REQUIREMENTS.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" y="31089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BUILD THE GATES PROGRAMMATICALLY.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TEST THEM LIKE CODE.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USE AI TO WRITE THE GATES, NOT TO BE THE GATES.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LET THE AGENT RUN.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17/22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5 :: THE EIGHT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EIGHT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BUILT OUT OF THE DISASTER.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24942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34543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249424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45436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TREAT AGENT AS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5760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UNTRUSTED WORKLOAD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432304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43230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432304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407408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0342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432304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432304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07408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03420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23744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523744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2999232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 BY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523744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523744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· host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90288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90288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90288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565392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661404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590288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590288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565392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661404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81728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81728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157216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GIVE AGENT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681728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PERMISSIONS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681728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· target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748272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748272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748272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723376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819388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748272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748272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723376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819388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839712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839712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7315200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TIERED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839712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839712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+ server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74320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74320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74320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249424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345436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74320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74320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249424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345436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365760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365760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000" dirty="0"/>
          </a:p>
        </p:txBody>
      </p:sp>
      <p:sp>
        <p:nvSpPr>
          <p:cNvPr id="78" name="Text 76"/>
          <p:cNvSpPr/>
          <p:nvPr/>
        </p:nvSpPr>
        <p:spPr>
          <a:xfrm>
            <a:off x="841248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CLUSTER-LEVEL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365760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365760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· target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2432304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2432304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2432304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407408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4503420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2432304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2432304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407408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503420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523744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523744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000" dirty="0"/>
          </a:p>
        </p:txBody>
      </p:sp>
      <p:sp>
        <p:nvSpPr>
          <p:cNvPr id="92" name="Text 90"/>
          <p:cNvSpPr/>
          <p:nvPr/>
        </p:nvSpPr>
        <p:spPr>
          <a:xfrm>
            <a:off x="2999232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IAC BEHIND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2523744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GATE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523744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· git/ci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590288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4590288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4590288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6565392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661404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4590288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4590288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6565392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6661404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4681728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4681728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000" dirty="0"/>
          </a:p>
        </p:txBody>
      </p:sp>
      <p:sp>
        <p:nvSpPr>
          <p:cNvPr id="106" name="Text 104"/>
          <p:cNvSpPr/>
          <p:nvPr/>
        </p:nvSpPr>
        <p:spPr>
          <a:xfrm>
            <a:off x="5157216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THE MCP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4681728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SURFACE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4681728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· framework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6748272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6748272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6748272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8723376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8819388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6748272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6748272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8723376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8819388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6839712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6839712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20" name="Text 118"/>
          <p:cNvSpPr/>
          <p:nvPr/>
        </p:nvSpPr>
        <p:spPr>
          <a:xfrm>
            <a:off x="7315200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 AGENTS</a:t>
            </a:r>
            <a:endParaRPr lang="en-US" sz="1050" dirty="0"/>
          </a:p>
        </p:txBody>
      </p:sp>
      <p:sp>
        <p:nvSpPr>
          <p:cNvPr id="121" name="Text 119"/>
          <p:cNvSpPr/>
          <p:nvPr/>
        </p:nvSpPr>
        <p:spPr>
          <a:xfrm>
            <a:off x="6839712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PRODUCTION</a:t>
            </a:r>
            <a:endParaRPr lang="en-US" sz="1050" dirty="0"/>
          </a:p>
        </p:txBody>
      </p:sp>
      <p:sp>
        <p:nvSpPr>
          <p:cNvPr id="122" name="Text 120"/>
          <p:cNvSpPr/>
          <p:nvPr/>
        </p:nvSpPr>
        <p:spPr>
          <a:xfrm>
            <a:off x="6839712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cross-cutting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274320" y="42519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MONTHS IN PROD-ADJACENT WORKLOADS. THEY WORK.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19/22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5 :: THE EIGHT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TWO MOST-SKIPPED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 + AUTHORIZATION. WHERE THE HEADLINES COME FROM.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10058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 YOUR AUDIT LOG TUESDAY. TWO QUESTIONS: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8595360" cy="132588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37160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137160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741664" y="137160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837676" y="137160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6654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25694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741664" y="26654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837676" y="25694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1463040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WHO'S THE ACTOR?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18288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 name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unprotected. </a:t>
            </a: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ServiceAccount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better.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bound token + workload identity = </a:t>
            </a: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backstop.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2834640"/>
            <a:ext cx="8595360" cy="132588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4320" y="283464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4320" y="283464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741664" y="283464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837676" y="283464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412851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403250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741664" y="412851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837676" y="403250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11480" y="2926080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THE SCOPE?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11480" y="329184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cluster-admin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unprotected. </a:t>
            </a: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Role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better.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ReducedBoundScope with explicit verbs = </a:t>
            </a: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backstop.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" y="420624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AI IN PROD? REDUCE IDENTITY. REDUCE SCOPE.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20/22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6 :: CONTINUE?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USE WHAT WE ALREADY KNOW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100584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is a new kind of application.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Restricting malicious actors isn't a new problem.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432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622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813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004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194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3385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30576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47767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64957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148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99339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6529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33720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0911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68102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85292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02483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19674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36865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54055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71246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88437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05627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22818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0009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390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91581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8772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25962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43153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60344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77535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94725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11916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29107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46297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63488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80679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97870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15060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32251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49442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66633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83823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01014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18205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35395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52586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69777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74320" y="2011680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DON'T GIVE IT ACCESS, IT CAN'T DO ANYTHING.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274320" y="23317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Treat the agent like the most capable malicious actor — if you tell it to be.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4320" y="2788920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 AT THE OS LAYER. MICRO VMs, NOT CONTAINERS.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274320" y="310896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WASM and containers are useful but breakable. Docker Desktop 0-days dropped Apr 6-7, 2025.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7432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44622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1813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900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6194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113385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30576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47767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6495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82148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99339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16529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33720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5091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268102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285292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302483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31967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3686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54055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371246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88437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0562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2281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40009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457200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74390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9158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50877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25962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543153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60344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7753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9472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11916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629107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646297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66348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680679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697870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715060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732251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74944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766633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783823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801014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818205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83539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852586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869777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274320" y="370332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OS-LEVEL ISOLATION IS CURRENTLY THE STRONGEST LINE.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21/22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6 :: CONTINUE?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50292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10" name="Shape 8"/>
          <p:cNvSpPr/>
          <p:nvPr/>
        </p:nvSpPr>
        <p:spPr>
          <a:xfrm>
            <a:off x="581193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5051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27334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81193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5051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88909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3476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27334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81193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5051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8909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42767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9618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3476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81193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5051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42767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96625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65760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19618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3476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27334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8119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5051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88909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42767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96625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5048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19618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27334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81193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35051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8909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96625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65760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73476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42767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850483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19618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27334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88909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96625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8307873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8361731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8254014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8307873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361731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415589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200156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254014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307873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361731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415589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469447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146298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200156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307873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361731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469447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8523305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092440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146298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8200156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8254014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830787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8361731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8415589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8469447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8523305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857716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8146298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8254014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8307873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8361731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8415589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8523305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8092440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8200156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8469447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8577163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8146298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8254014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8415589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8523305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27432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4622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61813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79004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96194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13385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30576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47767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64957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182148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199339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216529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233720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50911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68102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85292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302483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319674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336865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354055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371246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388437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05627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22818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40009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57200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74390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91581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508772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525962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543153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560344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77535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594725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11916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29107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46297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663488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680679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697870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715060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732251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749442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766633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83823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801014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818205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835395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852586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869777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142"/>
          <p:cNvSpPr/>
          <p:nvPr/>
        </p:nvSpPr>
        <p:spPr>
          <a:xfrm>
            <a:off x="274320" y="178308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TALK REPO, EXAMPLES, BYPASS APPENDIX:</a:t>
            </a:r>
            <a:endParaRPr lang="en-US" sz="1200" dirty="0"/>
          </a:p>
        </p:txBody>
      </p:sp>
      <p:sp>
        <p:nvSpPr>
          <p:cNvPr id="145" name="Text 143"/>
          <p:cNvSpPr/>
          <p:nvPr/>
        </p:nvSpPr>
        <p:spPr>
          <a:xfrm>
            <a:off x="1695297" y="2100131"/>
            <a:ext cx="747247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</a:t>
            </a:r>
            <a:r>
              <a:rPr lang="en-US" sz="1800" b="1" dirty="0" err="1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peopleforrester</a:t>
            </a:r>
            <a:r>
              <a:rPr lang="en-US" sz="1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SREday-Texas-2026</a:t>
            </a:r>
            <a:endParaRPr lang="en-US" sz="1800" dirty="0"/>
          </a:p>
        </p:txBody>
      </p:sp>
      <p:sp>
        <p:nvSpPr>
          <p:cNvPr id="146" name="Shape 144"/>
          <p:cNvSpPr/>
          <p:nvPr/>
        </p:nvSpPr>
        <p:spPr>
          <a:xfrm>
            <a:off x="27432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44622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61813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7900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96194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113385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130576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147767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16495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182148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199339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216529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233720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25091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268102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285292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302483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1967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33686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354055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371246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388437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40562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42281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440009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457200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74390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49158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50877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525962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543153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560344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57753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59472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611916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629107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646297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66348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80679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697870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715060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32251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74944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766633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783823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801014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818205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83539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852586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869777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Text 194"/>
          <p:cNvSpPr/>
          <p:nvPr/>
        </p:nvSpPr>
        <p:spPr>
          <a:xfrm>
            <a:off x="274320" y="288036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3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SPEAKER</a:t>
            </a:r>
            <a:endParaRPr lang="en-US" sz="1000" dirty="0"/>
          </a:p>
        </p:txBody>
      </p:sp>
      <p:sp>
        <p:nvSpPr>
          <p:cNvPr id="197" name="Text 195"/>
          <p:cNvSpPr/>
          <p:nvPr/>
        </p:nvSpPr>
        <p:spPr>
          <a:xfrm>
            <a:off x="274320" y="315468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MICHAEL FORRESTER  ·  @peopleforrester</a:t>
            </a:r>
            <a:endParaRPr lang="en-US" sz="1400" dirty="0"/>
          </a:p>
        </p:txBody>
      </p:sp>
      <p:sp>
        <p:nvSpPr>
          <p:cNvPr id="198" name="Text 196"/>
          <p:cNvSpPr/>
          <p:nvPr/>
        </p:nvSpPr>
        <p:spPr>
          <a:xfrm>
            <a:off x="274320" y="35204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MichaelRishiForrester.com</a:t>
            </a:r>
            <a:endParaRPr lang="en-US" sz="1200" dirty="0"/>
          </a:p>
        </p:txBody>
      </p:sp>
      <p:sp>
        <p:nvSpPr>
          <p:cNvPr id="199" name="Text 197"/>
          <p:cNvSpPr/>
          <p:nvPr/>
        </p:nvSpPr>
        <p:spPr>
          <a:xfrm>
            <a:off x="274320" y="395020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@peopleforrester on X/twitter,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bluesky</a:t>
            </a: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hacyderm</a:t>
            </a: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github</a:t>
            </a: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etc</a:t>
            </a:r>
            <a:endParaRPr lang="en-US" sz="1100" dirty="0"/>
          </a:p>
        </p:txBody>
      </p:sp>
      <p:sp>
        <p:nvSpPr>
          <p:cNvPr id="1025" name="AutoShape 6">
            <a:extLst>
              <a:ext uri="{FF2B5EF4-FFF2-40B4-BE49-F238E27FC236}">
                <a16:creationId xmlns:a16="http://schemas.microsoft.com/office/drawing/2014/main" id="{AED13A96-51A0-3455-5ED9-2D4DBE1372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7" name="AutoShape 8">
            <a:extLst>
              <a:ext uri="{FF2B5EF4-FFF2-40B4-BE49-F238E27FC236}">
                <a16:creationId xmlns:a16="http://schemas.microsoft.com/office/drawing/2014/main" id="{583D1565-223F-D039-2D0E-5A6D5C7344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56739" y="256489"/>
            <a:ext cx="2620061" cy="2620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9" name="Picture 1028">
            <a:extLst>
              <a:ext uri="{FF2B5EF4-FFF2-40B4-BE49-F238E27FC236}">
                <a16:creationId xmlns:a16="http://schemas.microsoft.com/office/drawing/2014/main" id="{E1708BD6-4691-3A4F-00F9-3355C189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474653"/>
            <a:ext cx="1994417" cy="19888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22/22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6 :: CONTINUE?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READING LIST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SITS IN THE BROADER LITERATURE.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078992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78992"/>
            <a:ext cx="73152" cy="713232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112471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TOP 10 FOR LLM APPS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" y="1408176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catalog (2025).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078992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17720" y="1078992"/>
            <a:ext cx="73152" cy="713232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82312" y="112471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AGENTIC AI TOP 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82312" y="1408176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Excessive Agency (Dec 2025).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847088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1847088"/>
            <a:ext cx="73152" cy="713232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8912" y="189280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 MAESTRO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8912" y="2176272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7-layer threat model (2025).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17720" y="1847088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1847088"/>
            <a:ext cx="73152" cy="713232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82312" y="189280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NIST CSF 2.0 / AI RMF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82312" y="2176272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Identify · Protect · Detect · Respond.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2615184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2615184"/>
            <a:ext cx="73152" cy="713232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38912" y="2660904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MITRE ATLAS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" y="2944368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attack catalog.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17720" y="2615184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17720" y="2615184"/>
            <a:ext cx="73152" cy="713232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82312" y="2660904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NIST SP 800-207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82312" y="2944368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Trust for non-human actors.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383280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383280"/>
            <a:ext cx="73152" cy="713232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38912" y="342900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WILLISON: LETHAL TRIFECTA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71246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+ untrusted content + comms.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17720" y="3383280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617720" y="3383280"/>
            <a:ext cx="73152" cy="713232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82312" y="342900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RSP / PREPAREDNESS / FSP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782312" y="371246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 capability frameworks.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1790</Words>
  <Application>Microsoft Office PowerPoint</Application>
  <PresentationFormat>On-screen Show (16:9)</PresentationFormat>
  <Paragraphs>359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Day an AI Agent Deleted My Cluster</dc:title>
  <dc:subject>PptxGenJS Presentation</dc:subject>
  <dc:creator>Michael Forrester — Accenture</dc:creator>
  <cp:lastModifiedBy>Michael Forrester</cp:lastModifiedBy>
  <cp:revision>3</cp:revision>
  <dcterms:created xsi:type="dcterms:W3CDTF">2026-05-11T14:57:16Z</dcterms:created>
  <dcterms:modified xsi:type="dcterms:W3CDTF">2026-05-11T15:24:20Z</dcterms:modified>
</cp:coreProperties>
</file>