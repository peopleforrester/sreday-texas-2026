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91842" y="4201705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22765" y="288959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6427" y="2621158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93638" y="336744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18729" y="22001"/>
            <a:ext cx="36576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85584" y="3817866"/>
            <a:ext cx="54864" cy="54864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7920" y="200962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35864" y="668833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41103" y="4297483"/>
            <a:ext cx="36576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0563" y="71160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66886" y="1951543"/>
            <a:ext cx="54864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51443" y="385394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6213" y="31098"/>
            <a:ext cx="36576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63895" y="3319022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764272" y="267781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28693" y="260466"/>
            <a:ext cx="54864" cy="54864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418616" y="4183736"/>
            <a:ext cx="36576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36393" y="1274410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69142" y="1301168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719" y="4174165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7207" y="246704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39910" y="270606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4656" y="3294420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39447" y="36244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848006" y="3871558"/>
            <a:ext cx="36576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03298" y="1922481"/>
            <a:ext cx="54864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52374" y="733452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79793" y="4296888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88125" y="647796"/>
            <a:ext cx="36576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95" y="2038777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19371" y="3799317"/>
            <a:ext cx="54864" cy="54864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982619" y="18030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38496" y="3391390"/>
            <a:ext cx="36576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027783" y="259262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868735" y="303758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02624" y="4210146"/>
            <a:ext cx="54864" cy="54864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4421" y="1195262"/>
            <a:ext cx="36576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869728" y="1382219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90643" y="4143269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4336" y="207600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10340" y="2790056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274679" y="3219493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173678" y="53985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536206" y="3922397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826162" y="1835715"/>
            <a:ext cx="36576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719541" y="800417"/>
            <a:ext cx="54864" cy="54864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9299" y="4292736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510625" y="586470"/>
            <a:ext cx="36576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69522" y="2126193"/>
            <a:ext cx="36576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8387" y="3741958"/>
            <a:ext cx="36576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81193" y="91440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35051" y="91440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27334" y="145298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81193" y="145298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35051" y="145298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88909" y="145298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73476" y="199156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27334" y="199156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81193" y="199156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35051" y="199156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88909" y="199156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42767" y="199156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19618" y="253014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73476" y="253014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81193" y="253014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35051" y="253014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42767" y="253014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96625" y="253014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65760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19618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73476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27334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81193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35051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88909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42767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96625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850483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19618" y="360731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527334" y="360731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81193" y="360731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35051" y="360731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88909" y="360731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96625" y="360731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65760" y="414589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473476" y="414589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742767" y="414589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50483" y="414589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419618" y="468447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527334" y="468447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688909" y="468447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796625" y="468447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890796" y="91440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213945" y="91440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944654" y="145298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160087" y="145298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890796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944654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998513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052371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106229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160087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213945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836938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890796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998513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052371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2106229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2213945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2267803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783080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836938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890796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944654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1998513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2052371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2106229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2160087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2213945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2267803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2321662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1783080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1890796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944654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998513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2052371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2106229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2160087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2213945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2321662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1783080" y="41458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1890796" y="41458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2213945" y="41458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2321662" y="41458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1944654" y="46844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1998513" y="46844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2106229" y="46844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2160087" y="46844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3415833" y="91440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3469691" y="91440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3361974" y="145298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3415833" y="145298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3469691" y="145298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3523549" y="145298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3308116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3361974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3415833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3469691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3523549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3577407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3254258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3308116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3415833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3469691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3577407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3631265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3200400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3254258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3308116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3361974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3415833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3469691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3523549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3577407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3631265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3685123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3254258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3361974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3415833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3469691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3523549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3631265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3200400" y="414589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3308116" y="414589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3577407" y="414589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3685123" y="414589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3254258" y="468447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3361974" y="468447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3523549" y="468447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3631265" y="468447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4725436" y="91440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5048585" y="91440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4779294" y="145298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4994727" y="145298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4725436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4779294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4833153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4887011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4940869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4994727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5048585" y="19915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4671578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4725436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4833153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4887011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4940869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5048585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5102443" y="25301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4617720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4671578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4725436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4779294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4833153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4887011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4940869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4994727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5048585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5102443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5156302" y="30687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4617720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4725436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4779294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4833153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4887011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4940869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4994727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5048585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5156302" y="36073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4617720" y="41458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4725436" y="41458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5048585" y="41458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5156302" y="41458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4779294" y="46844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4833153" y="46844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4940869" y="46844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4994727" y="46844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6250473" y="91440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6304331" y="91440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6196614" y="145298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6250473" y="145298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6304331" y="145298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6358189" y="145298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6142756" y="199156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6196614" y="199156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6250473" y="199156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6304331" y="199156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6358189" y="199156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6412047" y="199156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6088898" y="253014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6142756" y="253014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6250473" y="253014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6304331" y="253014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6412047" y="253014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6465905" y="253014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6035040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6088898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6142756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6196614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6250473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6304331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6358189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6412047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6465905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6519763" y="306873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6088898" y="360731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6196614" y="360731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6250473" y="360731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6304331" y="360731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6358189" y="360731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6465905" y="360731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6035040" y="414589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6142756" y="414589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6412047" y="414589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6519763" y="414589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6088898" y="468447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6196614" y="468447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6358189" y="468447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6465905" y="468447"/>
            <a:ext cx="51115" cy="51115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7560076" y="91440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7883225" y="91440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7613934" y="145298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7829367" y="145298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7560076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7613934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7667793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7721651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7775509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7829367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7883225" y="199156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7506218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7560076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7667793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7721651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7775509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7883225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7937083" y="253014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7452360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7506218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7560076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7613934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7667793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7721651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7775509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7829367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7883225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7937083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7990942" y="306873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7452360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7560076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7613934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7667793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7721651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7775509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7829367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7883225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7990942" y="360731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7452360" y="414589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7560076" y="414589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7883225" y="414589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7990942" y="414589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7613934" y="468447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7667793" y="468447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7775509" y="468447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7829367" y="468447"/>
            <a:ext cx="51115" cy="51115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868680" y="640080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868680" y="679765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868680" y="719450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868680" y="759135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3200400" y="640080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3200400" y="679765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3200400" y="719450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3200400" y="759135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5532120" y="640080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5532120" y="679765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5532120" y="719450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5532120" y="759135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7863840" y="640080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7863840" y="679765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7863840" y="719450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7863840" y="759135"/>
            <a:ext cx="36942" cy="36942"/>
          </a:xfrm>
          <a:prstGeom prst="rect">
            <a:avLst/>
          </a:prstGeom>
          <a:solidFill>
            <a:srgbClr val="FF17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Text 330"/>
          <p:cNvSpPr/>
          <p:nvPr/>
        </p:nvSpPr>
        <p:spPr>
          <a:xfrm>
            <a:off x="7040880" y="7132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HI-SCORE  999999</a:t>
            </a:r>
            <a:endParaRPr lang="en-US" sz="900" dirty="0"/>
          </a:p>
        </p:txBody>
      </p:sp>
      <p:sp>
        <p:nvSpPr>
          <p:cNvPr id="333" name="Text 331"/>
          <p:cNvSpPr/>
          <p:nvPr/>
        </p:nvSpPr>
        <p:spPr>
          <a:xfrm>
            <a:off x="274320" y="7132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</a:t>
            </a:r>
            <a:endParaRPr lang="en-US" sz="900" dirty="0"/>
          </a:p>
        </p:txBody>
      </p:sp>
      <p:sp>
        <p:nvSpPr>
          <p:cNvPr id="334" name="Text 332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DAY AN AI AGENT</a:t>
            </a:r>
            <a:endParaRPr lang="en-US" sz="4400" dirty="0"/>
          </a:p>
        </p:txBody>
      </p:sp>
      <p:sp>
        <p:nvSpPr>
          <p:cNvPr id="335" name="Text 333"/>
          <p:cNvSpPr/>
          <p:nvPr/>
        </p:nvSpPr>
        <p:spPr>
          <a:xfrm>
            <a:off x="274320" y="1664208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 MY CLUSTER</a:t>
            </a:r>
            <a:endParaRPr lang="en-US" sz="5600" dirty="0"/>
          </a:p>
        </p:txBody>
      </p:sp>
      <p:sp>
        <p:nvSpPr>
          <p:cNvPr id="336" name="Text 334"/>
          <p:cNvSpPr/>
          <p:nvPr/>
        </p:nvSpPr>
        <p:spPr>
          <a:xfrm>
            <a:off x="274320" y="254203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THE GUARDRAILS THAT WOULD HAVE STOPPED IT</a:t>
            </a:r>
            <a:endParaRPr lang="en-US" sz="1600" dirty="0"/>
          </a:p>
        </p:txBody>
      </p:sp>
      <p:sp>
        <p:nvSpPr>
          <p:cNvPr id="337" name="Shape 335"/>
          <p:cNvSpPr/>
          <p:nvPr/>
        </p:nvSpPr>
        <p:spPr>
          <a:xfrm>
            <a:off x="274320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446227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618134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790042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961949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33856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305763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1477670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1649578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1821485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1993392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2165299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2337206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2509114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2681021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2852928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3024835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3196742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3368650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3540557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3712464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3884371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4056278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4228186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4400093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4572000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4743907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4915814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5087722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5259629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5431536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5603443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5775350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5947258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6119165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6291072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6462979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6634886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6806794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6978701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7150608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7322515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7494422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7666330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7838237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8010144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8182051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8353958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8525866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8697773" y="31546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Text 385"/>
          <p:cNvSpPr/>
          <p:nvPr/>
        </p:nvSpPr>
        <p:spPr>
          <a:xfrm>
            <a:off x="274320" y="3291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INSERT COIN TO CONTINUE ]</a:t>
            </a:r>
            <a:endParaRPr lang="en-US" sz="1600" dirty="0"/>
          </a:p>
        </p:txBody>
      </p:sp>
      <p:sp>
        <p:nvSpPr>
          <p:cNvPr id="388" name="Text 386"/>
          <p:cNvSpPr/>
          <p:nvPr/>
        </p:nvSpPr>
        <p:spPr>
          <a:xfrm>
            <a:off x="274320" y="37490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MICHAEL FORRESTER</a:t>
            </a:r>
            <a:endParaRPr lang="en-US" sz="1400" dirty="0"/>
          </a:p>
        </p:txBody>
      </p:sp>
      <p:sp>
        <p:nvSpPr>
          <p:cNvPr id="389" name="Text 387"/>
          <p:cNvSpPr/>
          <p:nvPr/>
        </p:nvSpPr>
        <p:spPr>
          <a:xfrm>
            <a:off x="274320" y="40416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WORKFORCE TRANSFORMATION SPECIALIST  ·  ACCENTURE</a:t>
            </a:r>
            <a:endParaRPr lang="en-US" sz="1000" dirty="0"/>
          </a:p>
        </p:txBody>
      </p:sp>
      <p:sp>
        <p:nvSpPr>
          <p:cNvPr id="390" name="Shape 388"/>
          <p:cNvSpPr/>
          <p:nvPr/>
        </p:nvSpPr>
        <p:spPr>
          <a:xfrm>
            <a:off x="540410" y="382219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478048" y="3884554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540410" y="3884554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391"/>
          <p:cNvSpPr/>
          <p:nvPr/>
        </p:nvSpPr>
        <p:spPr>
          <a:xfrm>
            <a:off x="602772" y="3884554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392"/>
          <p:cNvSpPr/>
          <p:nvPr/>
        </p:nvSpPr>
        <p:spPr>
          <a:xfrm>
            <a:off x="478048" y="3946916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3"/>
          <p:cNvSpPr/>
          <p:nvPr/>
        </p:nvSpPr>
        <p:spPr>
          <a:xfrm>
            <a:off x="540410" y="3946916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4"/>
          <p:cNvSpPr/>
          <p:nvPr/>
        </p:nvSpPr>
        <p:spPr>
          <a:xfrm>
            <a:off x="602772" y="3946916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5"/>
          <p:cNvSpPr/>
          <p:nvPr/>
        </p:nvSpPr>
        <p:spPr>
          <a:xfrm>
            <a:off x="290962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6"/>
          <p:cNvSpPr/>
          <p:nvPr/>
        </p:nvSpPr>
        <p:spPr>
          <a:xfrm>
            <a:off x="353324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7"/>
          <p:cNvSpPr/>
          <p:nvPr/>
        </p:nvSpPr>
        <p:spPr>
          <a:xfrm>
            <a:off x="415686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8"/>
          <p:cNvSpPr/>
          <p:nvPr/>
        </p:nvSpPr>
        <p:spPr>
          <a:xfrm>
            <a:off x="478048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540410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400"/>
          <p:cNvSpPr/>
          <p:nvPr/>
        </p:nvSpPr>
        <p:spPr>
          <a:xfrm>
            <a:off x="602772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401"/>
          <p:cNvSpPr/>
          <p:nvPr/>
        </p:nvSpPr>
        <p:spPr>
          <a:xfrm>
            <a:off x="665135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402"/>
          <p:cNvSpPr/>
          <p:nvPr/>
        </p:nvSpPr>
        <p:spPr>
          <a:xfrm>
            <a:off x="727497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3"/>
          <p:cNvSpPr/>
          <p:nvPr/>
        </p:nvSpPr>
        <p:spPr>
          <a:xfrm>
            <a:off x="789859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404"/>
          <p:cNvSpPr/>
          <p:nvPr/>
        </p:nvSpPr>
        <p:spPr>
          <a:xfrm>
            <a:off x="228600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405"/>
          <p:cNvSpPr/>
          <p:nvPr/>
        </p:nvSpPr>
        <p:spPr>
          <a:xfrm>
            <a:off x="290962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6"/>
          <p:cNvSpPr/>
          <p:nvPr/>
        </p:nvSpPr>
        <p:spPr>
          <a:xfrm>
            <a:off x="353324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407"/>
          <p:cNvSpPr/>
          <p:nvPr/>
        </p:nvSpPr>
        <p:spPr>
          <a:xfrm>
            <a:off x="415686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408"/>
          <p:cNvSpPr/>
          <p:nvPr/>
        </p:nvSpPr>
        <p:spPr>
          <a:xfrm>
            <a:off x="478048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09"/>
          <p:cNvSpPr/>
          <p:nvPr/>
        </p:nvSpPr>
        <p:spPr>
          <a:xfrm>
            <a:off x="540410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410"/>
          <p:cNvSpPr/>
          <p:nvPr/>
        </p:nvSpPr>
        <p:spPr>
          <a:xfrm>
            <a:off x="602772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411"/>
          <p:cNvSpPr/>
          <p:nvPr/>
        </p:nvSpPr>
        <p:spPr>
          <a:xfrm>
            <a:off x="665135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12"/>
          <p:cNvSpPr/>
          <p:nvPr/>
        </p:nvSpPr>
        <p:spPr>
          <a:xfrm>
            <a:off x="727497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413"/>
          <p:cNvSpPr/>
          <p:nvPr/>
        </p:nvSpPr>
        <p:spPr>
          <a:xfrm>
            <a:off x="789859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414"/>
          <p:cNvSpPr/>
          <p:nvPr/>
        </p:nvSpPr>
        <p:spPr>
          <a:xfrm>
            <a:off x="852221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415"/>
          <p:cNvSpPr/>
          <p:nvPr/>
        </p:nvSpPr>
        <p:spPr>
          <a:xfrm>
            <a:off x="228600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6"/>
          <p:cNvSpPr/>
          <p:nvPr/>
        </p:nvSpPr>
        <p:spPr>
          <a:xfrm>
            <a:off x="290962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417"/>
          <p:cNvSpPr/>
          <p:nvPr/>
        </p:nvSpPr>
        <p:spPr>
          <a:xfrm>
            <a:off x="353324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18"/>
          <p:cNvSpPr/>
          <p:nvPr/>
        </p:nvSpPr>
        <p:spPr>
          <a:xfrm>
            <a:off x="415686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9"/>
          <p:cNvSpPr/>
          <p:nvPr/>
        </p:nvSpPr>
        <p:spPr>
          <a:xfrm>
            <a:off x="478048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20"/>
          <p:cNvSpPr/>
          <p:nvPr/>
        </p:nvSpPr>
        <p:spPr>
          <a:xfrm>
            <a:off x="540410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21"/>
          <p:cNvSpPr/>
          <p:nvPr/>
        </p:nvSpPr>
        <p:spPr>
          <a:xfrm>
            <a:off x="602772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22"/>
          <p:cNvSpPr/>
          <p:nvPr/>
        </p:nvSpPr>
        <p:spPr>
          <a:xfrm>
            <a:off x="665135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3"/>
          <p:cNvSpPr/>
          <p:nvPr/>
        </p:nvSpPr>
        <p:spPr>
          <a:xfrm>
            <a:off x="727497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4"/>
          <p:cNvSpPr/>
          <p:nvPr/>
        </p:nvSpPr>
        <p:spPr>
          <a:xfrm>
            <a:off x="789859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5"/>
          <p:cNvSpPr/>
          <p:nvPr/>
        </p:nvSpPr>
        <p:spPr>
          <a:xfrm>
            <a:off x="852221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426"/>
          <p:cNvSpPr/>
          <p:nvPr/>
        </p:nvSpPr>
        <p:spPr>
          <a:xfrm>
            <a:off x="8541410" y="382219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7"/>
          <p:cNvSpPr/>
          <p:nvPr/>
        </p:nvSpPr>
        <p:spPr>
          <a:xfrm>
            <a:off x="8479048" y="3884554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28"/>
          <p:cNvSpPr/>
          <p:nvPr/>
        </p:nvSpPr>
        <p:spPr>
          <a:xfrm>
            <a:off x="8541410" y="3884554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 429"/>
          <p:cNvSpPr/>
          <p:nvPr/>
        </p:nvSpPr>
        <p:spPr>
          <a:xfrm>
            <a:off x="8603772" y="3884554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430"/>
          <p:cNvSpPr/>
          <p:nvPr/>
        </p:nvSpPr>
        <p:spPr>
          <a:xfrm>
            <a:off x="8479048" y="3946916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431"/>
          <p:cNvSpPr/>
          <p:nvPr/>
        </p:nvSpPr>
        <p:spPr>
          <a:xfrm>
            <a:off x="8541410" y="3946916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432"/>
          <p:cNvSpPr/>
          <p:nvPr/>
        </p:nvSpPr>
        <p:spPr>
          <a:xfrm>
            <a:off x="8603772" y="3946916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433"/>
          <p:cNvSpPr/>
          <p:nvPr/>
        </p:nvSpPr>
        <p:spPr>
          <a:xfrm>
            <a:off x="8291962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Shape 434"/>
          <p:cNvSpPr/>
          <p:nvPr/>
        </p:nvSpPr>
        <p:spPr>
          <a:xfrm>
            <a:off x="8354324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Shape 435"/>
          <p:cNvSpPr/>
          <p:nvPr/>
        </p:nvSpPr>
        <p:spPr>
          <a:xfrm>
            <a:off x="8416686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Shape 436"/>
          <p:cNvSpPr/>
          <p:nvPr/>
        </p:nvSpPr>
        <p:spPr>
          <a:xfrm>
            <a:off x="8479048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Shape 437"/>
          <p:cNvSpPr/>
          <p:nvPr/>
        </p:nvSpPr>
        <p:spPr>
          <a:xfrm>
            <a:off x="8541410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0" name="Shape 438"/>
          <p:cNvSpPr/>
          <p:nvPr/>
        </p:nvSpPr>
        <p:spPr>
          <a:xfrm>
            <a:off x="8603772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Shape 439"/>
          <p:cNvSpPr/>
          <p:nvPr/>
        </p:nvSpPr>
        <p:spPr>
          <a:xfrm>
            <a:off x="8666135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40"/>
          <p:cNvSpPr/>
          <p:nvPr/>
        </p:nvSpPr>
        <p:spPr>
          <a:xfrm>
            <a:off x="8728497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Shape 441"/>
          <p:cNvSpPr/>
          <p:nvPr/>
        </p:nvSpPr>
        <p:spPr>
          <a:xfrm>
            <a:off x="8790859" y="4009278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Shape 442"/>
          <p:cNvSpPr/>
          <p:nvPr/>
        </p:nvSpPr>
        <p:spPr>
          <a:xfrm>
            <a:off x="8229600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Shape 443"/>
          <p:cNvSpPr/>
          <p:nvPr/>
        </p:nvSpPr>
        <p:spPr>
          <a:xfrm>
            <a:off x="8291962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Shape 444"/>
          <p:cNvSpPr/>
          <p:nvPr/>
        </p:nvSpPr>
        <p:spPr>
          <a:xfrm>
            <a:off x="8354324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445"/>
          <p:cNvSpPr/>
          <p:nvPr/>
        </p:nvSpPr>
        <p:spPr>
          <a:xfrm>
            <a:off x="8416686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446"/>
          <p:cNvSpPr/>
          <p:nvPr/>
        </p:nvSpPr>
        <p:spPr>
          <a:xfrm>
            <a:off x="8479048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Shape 447"/>
          <p:cNvSpPr/>
          <p:nvPr/>
        </p:nvSpPr>
        <p:spPr>
          <a:xfrm>
            <a:off x="8541410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Shape 448"/>
          <p:cNvSpPr/>
          <p:nvPr/>
        </p:nvSpPr>
        <p:spPr>
          <a:xfrm>
            <a:off x="8603772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Shape 449"/>
          <p:cNvSpPr/>
          <p:nvPr/>
        </p:nvSpPr>
        <p:spPr>
          <a:xfrm>
            <a:off x="8666135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Shape 450"/>
          <p:cNvSpPr/>
          <p:nvPr/>
        </p:nvSpPr>
        <p:spPr>
          <a:xfrm>
            <a:off x="8728497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451"/>
          <p:cNvSpPr/>
          <p:nvPr/>
        </p:nvSpPr>
        <p:spPr>
          <a:xfrm>
            <a:off x="8790859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452"/>
          <p:cNvSpPr/>
          <p:nvPr/>
        </p:nvSpPr>
        <p:spPr>
          <a:xfrm>
            <a:off x="8853221" y="4071640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453"/>
          <p:cNvSpPr/>
          <p:nvPr/>
        </p:nvSpPr>
        <p:spPr>
          <a:xfrm>
            <a:off x="8229600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Shape 454"/>
          <p:cNvSpPr/>
          <p:nvPr/>
        </p:nvSpPr>
        <p:spPr>
          <a:xfrm>
            <a:off x="8291962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455"/>
          <p:cNvSpPr/>
          <p:nvPr/>
        </p:nvSpPr>
        <p:spPr>
          <a:xfrm>
            <a:off x="8354324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456"/>
          <p:cNvSpPr/>
          <p:nvPr/>
        </p:nvSpPr>
        <p:spPr>
          <a:xfrm>
            <a:off x="8416686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457"/>
          <p:cNvSpPr/>
          <p:nvPr/>
        </p:nvSpPr>
        <p:spPr>
          <a:xfrm>
            <a:off x="8479048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Shape 458"/>
          <p:cNvSpPr/>
          <p:nvPr/>
        </p:nvSpPr>
        <p:spPr>
          <a:xfrm>
            <a:off x="8541410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1" name="Shape 459"/>
          <p:cNvSpPr/>
          <p:nvPr/>
        </p:nvSpPr>
        <p:spPr>
          <a:xfrm>
            <a:off x="8603772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Shape 460"/>
          <p:cNvSpPr/>
          <p:nvPr/>
        </p:nvSpPr>
        <p:spPr>
          <a:xfrm>
            <a:off x="8666135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Shape 461"/>
          <p:cNvSpPr/>
          <p:nvPr/>
        </p:nvSpPr>
        <p:spPr>
          <a:xfrm>
            <a:off x="8728497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4" name="Shape 462"/>
          <p:cNvSpPr/>
          <p:nvPr/>
        </p:nvSpPr>
        <p:spPr>
          <a:xfrm>
            <a:off x="8790859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5" name="Shape 463"/>
          <p:cNvSpPr/>
          <p:nvPr/>
        </p:nvSpPr>
        <p:spPr>
          <a:xfrm>
            <a:off x="8853221" y="4134002"/>
            <a:ext cx="59619" cy="59619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6" name="Text 464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 MAY 11, 2026  ·  AUSTIN, TEXAS  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02/22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1 :: SETUP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4114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THE SETUP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 23, 2025  ·  21:54 UTC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4206240" cy="2971800"/>
          </a:xfrm>
          <a:prstGeom prst="rect">
            <a:avLst/>
          </a:prstGeom>
          <a:solidFill>
            <a:srgbClr val="0E0E14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280160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52544" y="1280160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48556" y="1280160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4219956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4123944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52544" y="4219956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48556" y="4123944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14173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HAD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178308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9-NODE NON-PROD CLUSTER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FULL OBSERVABILITY + GITOPS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VELERO BACKUPS  </a:t>
            </a:r>
            <a:r>
              <a:rPr lang="en-US" sz="140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(UNTESTED)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EIGHT SAFETY RULES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 THE PROMPT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280160"/>
            <a:ext cx="4206240" cy="2971800"/>
          </a:xfrm>
          <a:prstGeom prst="rect">
            <a:avLst/>
          </a:prstGeom>
          <a:solidFill>
            <a:srgbClr val="0E0E14"/>
          </a:solidFill>
          <a:ln w="12700">
            <a:solidFill>
              <a:srgbClr val="FF0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12801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741664" y="12801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837676" y="12801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421995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412394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41664" y="421995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837676" y="412394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14173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ASKED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178308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"INVESTIGATE THE CNI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CONFLICT."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"DON'T BREAK ANYTHING."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READ-ONLY. EIGHT RULES.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 CONSTRAINTS.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03/22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1 :: SETUP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SELECT YOUR USE CASE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777240" cy="77724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051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325880" y="1051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 AI INTO WORKFLOWS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Coding agents, artifact generation.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777240" cy="77724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325880" y="21031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 AI INTO AN APPLICATION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Chatbots, search, in-product features.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777240" cy="7772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325880" y="31546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FOR SYSTEMS MANAGEMENT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3520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Kubernetes, infrastructure operations, cloud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3154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SELECTED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9319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STORY IS CASE 3.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04/22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2 :: THE INCIDENT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THEN I MADE THE MISTAKE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8686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JUMPED FROM USE CASE 1 TO USE CASE 3.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4206240" cy="2606040"/>
          </a:xfrm>
          <a:prstGeom prst="rect">
            <a:avLst/>
          </a:prstGeom>
          <a:solidFill>
            <a:srgbClr val="0E0E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280160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52544" y="1280160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48556" y="1280160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854196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758184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52544" y="3854196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48556" y="3758184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1371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ASSISTANCE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16276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 WAS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1993392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Creating artifacts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CI/CD applied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Testable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Reversible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280160"/>
            <a:ext cx="4206240" cy="2606040"/>
          </a:xfrm>
          <a:prstGeom prst="rect">
            <a:avLst/>
          </a:prstGeom>
          <a:solidFill>
            <a:srgbClr val="0E0E1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1280160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41664" y="1280160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837676" y="1280160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3854196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3758184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741664" y="3854196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37676" y="3758184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1371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MANAGEMENT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16276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 ENDED UP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00600" y="1993392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Direct cluster ops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 GitOps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Live system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Irreversible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74320" y="39502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 WHATEVER YOU NEED TO DO TO STEP OUTSIDE THE PIPELINE."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05/22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2 :: THE INCIDENT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50 MINUTES LATER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CAME BACK.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15544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PODS RUNNING.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 DEPLOYED.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LOOKED GREAT.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6227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8134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0042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1949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33856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05763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477670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49578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21485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93392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65299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337206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09114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81021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852928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024835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196742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68650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40557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712464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84371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056278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228186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400093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43907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15814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087722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259629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31536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603443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775350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947258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19165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91072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62979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634886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806794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978701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150608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322515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494422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666330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38237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010144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182051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353958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525866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97773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2834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I SCROLLED UP.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274320" y="35204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HAD REFRESHED THE ETCD CLUSTER.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HAD REBUILT THE CONTROL PLANE.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06/22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2 :: THE INCIDENT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THE COMMAND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22:50 UTC  ·  50 MINUTES 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371600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58784" y="1371600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54796" y="1371600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711196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615184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58784" y="2711196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54796" y="2615184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22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etcd --force-new-cluster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static pod manifest edit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1417320"/>
          </a:xfrm>
          <a:prstGeom prst="rect">
            <a:avLst/>
          </a:prstGeom>
          <a:solidFill>
            <a:srgbClr val="0E0E1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58784" y="2880360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654796" y="2880360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4265676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4169664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558784" y="4265676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654796" y="4169664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017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Discards all other etcd members.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Resets to single-node from existing data.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THERE IS NO RECOVERY FROM THIS.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07/22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2 :: THE INCIDENT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 WENT BACK TO IT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DID YOU REINITIALIZE THE CLUSTER?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7680960" cy="1554480"/>
          </a:xfrm>
          <a:prstGeom prst="rect">
            <a:avLst/>
          </a:prstGeom>
          <a:solidFill>
            <a:srgbClr val="151522"/>
          </a:solidFill>
          <a:ln w="12700">
            <a:solidFill>
              <a:srgbClr val="FFE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1463040"/>
            <a:ext cx="128016" cy="32004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1463040"/>
            <a:ext cx="32004" cy="12801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84464" y="1463040"/>
            <a:ext cx="128016" cy="32004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80476" y="1463040"/>
            <a:ext cx="32004" cy="12801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2985516"/>
            <a:ext cx="128016" cy="32004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2889504"/>
            <a:ext cx="32004" cy="12801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84464" y="2985516"/>
            <a:ext cx="128016" cy="32004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80476" y="2889504"/>
            <a:ext cx="32004" cy="12801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16002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"You're absolutely right.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violated every constraint about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non-destructive actions.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 was wrong."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6227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8134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0042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1949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33856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05763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477670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649578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1485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993392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165299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337206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09114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681021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52928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024835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196742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368650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540557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712464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84371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056278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228186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400093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72000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43907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915814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087722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259629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431536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603443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775350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947258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19165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91072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462979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634886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806794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978701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150608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322515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494422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666330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838237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010144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182051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353958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525866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8697773" y="320040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74320" y="33832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ADMITTED EVERYTHING. ARTICULATED EACH VIOLATION.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274320" y="36576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HAD NO MECHANISM TO PREVENT DOING IT AGAIN.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274320" y="40233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APOLOGY IS NOT A CONTROL.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08/22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2 :: THE INCIDENT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DAY 2 :: I DOUBLED DOWN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960120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960120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58784" y="960120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54796" y="960120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1705356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1609344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58784" y="1705356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54796" y="1609344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10515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6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"OK. Now fix the original CNI problem."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FOUND CILIUM / MULTUS CONFLICT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2359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DECIDED FIX REQUIRED NETPLAN REWRITE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27523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ACROSS CONTROL PLANE AND WORKERS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31455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I LOST SSH TO EVERY NODE SIMULTANEOUSLY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538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RECOVERY TOOK THE REST OF THE WEEK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09/22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2 :: THE INCIDENT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THE MOMENT I KNEW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96012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AGENT DID NOT EXCEED ITS AUTHORITY.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OPERATED EXACTLY INSIDE IT.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18288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kern="0" spc="2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ENFORCEMENT OF THE BOUNDARY WAS THE PROBLEM.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6227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8134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0042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1949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33856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05763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477670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49578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21485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93392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65299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337206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09114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81021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852928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024835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196742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68650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40557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712464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84371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056278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228186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400093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43907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15814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087722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259629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31536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603443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775350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947258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19165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91072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62979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634886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806794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978701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150608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322515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494422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666330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38237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010144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182051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353958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525866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97773" y="23317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097280" y="2606040"/>
            <a:ext cx="6949440" cy="1645920"/>
          </a:xfrm>
          <a:prstGeom prst="rect">
            <a:avLst/>
          </a:prstGeom>
          <a:solidFill>
            <a:srgbClr val="151522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97280" y="2606040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097280" y="2606040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918704" y="2606040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014716" y="2606040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097280" y="4219956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097280" y="4123944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918704" y="4219956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8014716" y="4123944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484986" y="2788920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541678" y="2788920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598371" y="2788920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655064" y="2788920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711757" y="2788920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768450" y="2788920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428293" y="2845613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484986" y="2845613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541678" y="2845613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598371" y="2845613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655064" y="2845613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711757" y="2845613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768450" y="2845613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825142" y="2845613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371600" y="2902306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428293" y="2902306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484986" y="2902306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541678" y="2902306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598371" y="2902306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655064" y="2902306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711757" y="2902306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768450" y="2902306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825142" y="2902306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881835" y="2902306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371600" y="2958998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428293" y="2958998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484986" y="2958998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541678" y="2958998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598371" y="2958998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655064" y="2958998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711757" y="2958998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768450" y="2958998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825142" y="2958998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1881835" y="2958998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371600" y="3015691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428293" y="3015691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484986" y="3015691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1768450" y="3015691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825142" y="3015691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1881835" y="3015691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1371600" y="3072384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428293" y="3072384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825142" y="3072384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881835" y="3072384"/>
            <a:ext cx="53950" cy="53950"/>
          </a:xfrm>
          <a:prstGeom prst="rect">
            <a:avLst/>
          </a:prstGeom>
          <a:solidFill>
            <a:srgbClr val="39FF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2331720" y="2697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GATE HELD.</a:t>
            </a:r>
            <a:endParaRPr lang="en-US" sz="1800" dirty="0"/>
          </a:p>
        </p:txBody>
      </p:sp>
      <p:sp>
        <p:nvSpPr>
          <p:cNvPr id="116" name="Text 114"/>
          <p:cNvSpPr/>
          <p:nvPr/>
        </p:nvSpPr>
        <p:spPr>
          <a:xfrm>
            <a:off x="2331720" y="303580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NON-PRODUCTION ACCESS.</a:t>
            </a:r>
            <a:endParaRPr lang="en-US" sz="1400" dirty="0"/>
          </a:p>
        </p:txBody>
      </p:sp>
      <p:sp>
        <p:nvSpPr>
          <p:cNvPr id="117" name="Text 115"/>
          <p:cNvSpPr/>
          <p:nvPr/>
        </p:nvSpPr>
        <p:spPr>
          <a:xfrm>
            <a:off x="2331720" y="345643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COULD'VE BEEN THE NEXT HEADLINE.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2331720" y="376732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WASN'T — BECAUSE RBAC WAS THE LINE THAT HELD.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10/22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3 :: ANATOMY OF THE PIPELINE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9924" y="29260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SECURITY GUARDRAILS TO CONSIDER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ZONES. NONE UNBYPASSABLE ALONE. STACK ALL THREE.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2788920" cy="3200400"/>
          </a:xfrm>
          <a:prstGeom prst="rect">
            <a:avLst/>
          </a:prstGeom>
          <a:solidFill>
            <a:srgbClr val="0E0E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051560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051560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35224" y="1051560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31236" y="1051560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4219956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4123944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35224" y="4219956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031236" y="4123944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11430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CLIENT-SIDE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4475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operator's machine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17830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git hooks (pre-*)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local tests + lint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tool allowlist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fs ACLs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prompt-injection filt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OOB approval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1051560"/>
            <a:ext cx="2788920" cy="3200400"/>
          </a:xfrm>
          <a:prstGeom prst="rect">
            <a:avLst/>
          </a:prstGeom>
          <a:solidFill>
            <a:srgbClr val="0E0E14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0" y="1051560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1051560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61304" y="1051560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57316" y="1051560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0" y="4219956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4123944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61304" y="4219956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57316" y="4123944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91840" y="11430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/ AGENT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144475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agent unit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64992" y="17830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LLM (probabilistic)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Framework hooks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MCP host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Host: bwrap / VM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1051560"/>
            <a:ext cx="2788920" cy="3200400"/>
          </a:xfrm>
          <a:prstGeom prst="rect">
            <a:avLst/>
          </a:prstGeom>
          <a:solidFill>
            <a:srgbClr val="0E0E14"/>
          </a:solidFill>
          <a:ln w="12700">
            <a:solidFill>
              <a:srgbClr val="FF0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26480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26480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787384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883396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26480" y="421995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26480" y="412394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787384" y="421995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883396" y="412394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17920" y="11430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SERVER-SIDE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17920" y="144475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Downstream chain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91072" y="17830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git: branch prot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CI/CD: req'd checks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registry: cosign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target: RBAC + IAM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11/22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3 :: ANATOMY OF THE PIPELINE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29260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HERE'S WHAT MINE LOOKS LIKE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PRODUCTION SETUP, SAME THREE ZONES.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2788920" cy="3246120"/>
          </a:xfrm>
          <a:prstGeom prst="rect">
            <a:avLst/>
          </a:prstGeom>
          <a:solidFill>
            <a:srgbClr val="0E0E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051560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051560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35224" y="1051560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31236" y="1051560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4265676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4169664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35224" y="4265676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031236" y="4169664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11155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CLIENT-SIDE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141732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PRE-COMMIT [T1]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ruff + mypy + style &lt;5s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PRE-PUSH [T2]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 scan + units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PRE-PUSH [T3] main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e2e gate — blocks push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allowlist (CC)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ACLs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ROADMAP: pi-guard, OOB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1051560"/>
            <a:ext cx="2788920" cy="3246120"/>
          </a:xfrm>
          <a:prstGeom prst="rect">
            <a:avLst/>
          </a:prstGeom>
          <a:solidFill>
            <a:srgbClr val="0E0E14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1051560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0" y="1051560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61304" y="1051560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57316" y="1051560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4265676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0" y="4169664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61304" y="4265676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57316" y="4169664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0" y="11155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/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141732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CC LIFECYCLE HOOKS: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SessionStart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PreToolUse x2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PostToolUse x2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PostCompact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Stop  ·  SessionEnd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slash commands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rules in ~/.claude/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gap — no sandbox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1051560"/>
            <a:ext cx="2788920" cy="3246120"/>
          </a:xfrm>
          <a:prstGeom prst="rect">
            <a:avLst/>
          </a:prstGeom>
          <a:solidFill>
            <a:srgbClr val="0E0E14"/>
          </a:solidFill>
          <a:ln w="12700">
            <a:solidFill>
              <a:srgbClr val="FF0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26480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26480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787384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883396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26480" y="426567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26480" y="416966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787384" y="426567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883396" y="416966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17920" y="11155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SERVER-SIDE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63640" y="141732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 protected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 required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ci.yml ruff/mypy/u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e2e.yml on PR→main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CLUSTER: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RBAC non-prod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(line that held)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GAPS: signing, admis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12/22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4 :: ROOT CAUSE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TWO ROOT CAUSES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4206240" cy="3063240"/>
          </a:xfrm>
          <a:prstGeom prst="rect">
            <a:avLst/>
          </a:prstGeom>
          <a:solidFill>
            <a:srgbClr val="0E0E14"/>
          </a:solidFill>
          <a:ln w="12700">
            <a:solidFill>
              <a:srgbClr val="FFE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128016" cy="32004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097280"/>
            <a:ext cx="32004" cy="12801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52544" y="1097280"/>
            <a:ext cx="128016" cy="32004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48556" y="1097280"/>
            <a:ext cx="32004" cy="12801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4128516"/>
            <a:ext cx="128016" cy="32004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4032504"/>
            <a:ext cx="32004" cy="12801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52544" y="4128516"/>
            <a:ext cx="128016" cy="32004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48556" y="4032504"/>
            <a:ext cx="32004" cy="12801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1234440"/>
            <a:ext cx="777240" cy="777240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1234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325880" y="12801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TOLD IT TO STEP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1600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 THE GATES.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1945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do that.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agent did exactly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authorized.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097280"/>
            <a:ext cx="4206240" cy="3063240"/>
          </a:xfrm>
          <a:prstGeom prst="rect">
            <a:avLst/>
          </a:prstGeom>
          <a:solidFill>
            <a:srgbClr val="0E0E1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1097280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741664" y="1097280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837676" y="1097280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4128516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4032504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41664" y="4128516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837676" y="4032504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00600" y="1234440"/>
            <a:ext cx="777240" cy="777240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1234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5715000" y="12801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GATES I HAD WERE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1600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INCOMPLETE.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21945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framework hooks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operator couldn't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to overrule me.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13/22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4 :: ROOT CAUSE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WRONG ASSUMPTION #1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IS AN AI PROBLEM."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1417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CAUGHT MYSELF ANTHROPOMORPHIZING.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6916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"IT'LL REASON. IT'LL ACT LIKE A JUNIOR DEVELOPER."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6227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0042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1949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33856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05763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477670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49578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1485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93392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165299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337206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09114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681021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852928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024835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96742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68650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540557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712464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84371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056278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228186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400093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0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43907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915814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087722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259629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431536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603443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775350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947258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19165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291072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462979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634886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806794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978701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150608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322515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494422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666330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838237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010144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182051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353958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525866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697773" y="21031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74320" y="228600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DELETES. CURSOR. DB-DELETE HEADLINES.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274320" y="261518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OF THEM: SERVER-SIDE RBAC VIOLATIONS.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274320" y="3035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protection. CODEOWNERS. Admission policies. IaC apply gates. CI/CD triggers.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4320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46227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18134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90042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61949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133856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305763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477670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649578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821485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993392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165299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337206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509114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681021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852928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024835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196742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3368650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3540557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712464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3884371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4056278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228186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4400093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572000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743907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4915814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087722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259629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431536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5603443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5775350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5947258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6119165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6291072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6462979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6634886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6806794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6978701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7150608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7322515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7494422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7666330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7838237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010144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8182051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353958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8525866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8697773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274320" y="36576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BACKGROUND IS ML. I KNEW IT WAS PROBABILISTIC.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274320" y="3977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STILL ANTHROPOMORPHIZED.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14/22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4 :: ROOT CAUSE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29260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WRONG ASSUMPTION #2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 OPERATES WITH HUMAN JUDGMENT AND FEAR."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4206240" cy="2743200"/>
          </a:xfrm>
          <a:prstGeom prst="rect">
            <a:avLst/>
          </a:prstGeom>
          <a:solidFill>
            <a:srgbClr val="0E0E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097280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097280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52544" y="1097280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48556" y="1097280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808476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52544" y="3808476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48556" y="3712464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1480" y="1627632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Bound by pro norms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Pause when uncertain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Call senior on-call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Constrained by social cost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Prompts = instructions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097280"/>
            <a:ext cx="4206240" cy="2743200"/>
          </a:xfrm>
          <a:prstGeom prst="rect">
            <a:avLst/>
          </a:prstGeom>
          <a:solidFill>
            <a:srgbClr val="0E0E1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1097280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1097280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741664" y="1097280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837676" y="1097280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3808476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3712464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41664" y="3808476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837676" y="3712464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00600" y="1627632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Bound by params YOU set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No pause without instruction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Will work around obstacles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No social cost. No reputation.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Prompts = suggestions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" y="3977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OUT OF 20 IT NAILS. THE 1 IS WHERE THE CLUSTER DIES.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15/22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4 :: ROOT CAUSE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THIRD INSTINCT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"PUT A HUMAN IN THE LOOP ON EVERYTHING."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13716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 HITL / NO-HITL LACKS SUBTLETY.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solidFill>
            <a:srgbClr val="0E0E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58784" y="1828800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54796" y="1828800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574036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478024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58784" y="2574036"/>
            <a:ext cx="128016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54796" y="2478024"/>
            <a:ext cx="3200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1874520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LOW-RISK · REVERSIBLE · SCOPED  </a:t>
            </a:r>
            <a:r>
              <a:rPr lang="en-US" sz="14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LET THE AGENT RUN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8229600" cy="777240"/>
          </a:xfrm>
          <a:prstGeom prst="rect">
            <a:avLst/>
          </a:prstGeom>
          <a:solidFill>
            <a:srgbClr val="0E0E1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697480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2697480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58784" y="2697480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654796" y="2697480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442716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346704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558784" y="3442716"/>
            <a:ext cx="128016" cy="32004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654796" y="3346704"/>
            <a:ext cx="32004" cy="128016"/>
          </a:xfrm>
          <a:prstGeom prst="rect">
            <a:avLst/>
          </a:prstGeom>
          <a:solidFill>
            <a:srgbClr val="FF1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2743200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HIGH-RISK · DESTRUCTIVE · PROD  </a:t>
            </a:r>
            <a:r>
              <a:rPr lang="en-US" sz="14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HUMAN + AUTO GATES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" y="36576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USE COMPUTERS TO GO FASTER THAN HUMAN SPEED.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" y="39502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HUMANS GET ALERT FATIGUE. THEY START SAYING YES TO EVERYTHING.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16/22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4 :: ROOT CAUSE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THE PRINCIPLE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8229600" cy="1874520"/>
          </a:xfrm>
          <a:prstGeom prst="rect">
            <a:avLst/>
          </a:prstGeom>
          <a:solidFill>
            <a:srgbClr val="151522"/>
          </a:solidFill>
          <a:ln w="12700">
            <a:solidFill>
              <a:srgbClr val="FF0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58784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54796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89407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79806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58784" y="289407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54796" y="279806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USE PROBABILISTIC AI (ALONE)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ENFORCE DETERMINISTIC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" y="2331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BUILD THE GATES PROGRAMMATICALLY.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TEST THEM LIKE CODE.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USE AI TO WRITE THE GATES, NOT TO BE THE GATES.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LET THE AGENT RUN.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17/22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5 :: THE EIGHT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29260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THE EIGHT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BUILT OUT OF THE DISASTER.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2103120" cy="1554480"/>
          </a:xfrm>
          <a:prstGeom prst="rect">
            <a:avLst/>
          </a:prstGeom>
          <a:solidFill>
            <a:srgbClr val="0E0E14"/>
          </a:solidFill>
          <a:ln w="12700">
            <a:solidFill>
              <a:srgbClr val="FF0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49424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45436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57403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47802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49424" y="257403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45436" y="247802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1143000"/>
            <a:ext cx="411480" cy="411480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1248" y="1170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 AGENT 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UNTRUSTED WORKLOAD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32304" y="1051560"/>
            <a:ext cx="2103120" cy="1554480"/>
          </a:xfrm>
          <a:prstGeom prst="rect">
            <a:avLst/>
          </a:prstGeom>
          <a:solidFill>
            <a:srgbClr val="0E0E14"/>
          </a:solidFill>
          <a:ln w="12700">
            <a:solidFill>
              <a:srgbClr val="FF0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432304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432304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07408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03420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432304" y="257403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432304" y="247802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07408" y="257403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03420" y="247802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23744" y="1143000"/>
            <a:ext cx="411480" cy="411480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23744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2999232" y="1170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 BY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523744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523744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· host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90288" y="1051560"/>
            <a:ext cx="2103120" cy="1554480"/>
          </a:xfrm>
          <a:prstGeom prst="rect">
            <a:avLst/>
          </a:prstGeom>
          <a:solidFill>
            <a:srgbClr val="0E0E14"/>
          </a:solidFill>
          <a:ln w="12700">
            <a:solidFill>
              <a:srgbClr val="FF0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90288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90288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565392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661404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90288" y="257403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90288" y="247802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565392" y="257403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661404" y="247802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81728" y="1143000"/>
            <a:ext cx="411480" cy="411480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81728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157216" y="1170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GIVE AGENT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681728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PERMISSIONS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681728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· target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748272" y="1051560"/>
            <a:ext cx="2103120" cy="1554480"/>
          </a:xfrm>
          <a:prstGeom prst="rect">
            <a:avLst/>
          </a:prstGeom>
          <a:solidFill>
            <a:srgbClr val="0E0E14"/>
          </a:solidFill>
          <a:ln w="12700">
            <a:solidFill>
              <a:srgbClr val="FF0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748272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748272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723376" y="105156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819388" y="1051560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748272" y="257403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748272" y="247802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723376" y="2574036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819388" y="247802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839712" y="1143000"/>
            <a:ext cx="411480" cy="411480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839712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7315200" y="1170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TIERED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839712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39712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+ server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74320" y="2660904"/>
            <a:ext cx="2103120" cy="1554480"/>
          </a:xfrm>
          <a:prstGeom prst="rect">
            <a:avLst/>
          </a:prstGeom>
          <a:solidFill>
            <a:srgbClr val="0E0E14"/>
          </a:solidFill>
          <a:ln w="12700">
            <a:solidFill>
              <a:srgbClr val="FF0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74320" y="2660904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74320" y="266090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249424" y="2660904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345436" y="266090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74320" y="418338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74320" y="4087368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249424" y="418338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2345436" y="4087368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365760" y="2752344"/>
            <a:ext cx="411480" cy="411480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65760" y="2752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41248" y="27797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CONTEXT-AWARE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365760" y="33009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365760" y="3739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· target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432304" y="2660904"/>
            <a:ext cx="2103120" cy="1554480"/>
          </a:xfrm>
          <a:prstGeom prst="rect">
            <a:avLst/>
          </a:prstGeom>
          <a:solidFill>
            <a:srgbClr val="0E0E14"/>
          </a:solidFill>
          <a:ln w="12700">
            <a:solidFill>
              <a:srgbClr val="FF0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432304" y="2660904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432304" y="266090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407408" y="2660904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4503420" y="266090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432304" y="418338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32304" y="4087368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4407408" y="418338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503420" y="4087368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523744" y="2752344"/>
            <a:ext cx="411480" cy="411480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523744" y="2752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2999232" y="27797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FF"/>
                </a:solidFill>
                <a:latin typeface="Courier New" pitchFamily="34" charset="0"/>
                <a:cs typeface="Courier New" pitchFamily="34" charset="-120"/>
              </a:rPr>
              <a:t>ARTIFACTS are in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2523744" y="33009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GATE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2523744" y="3739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· git/ci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590288" y="2660904"/>
            <a:ext cx="2103120" cy="1554480"/>
          </a:xfrm>
          <a:prstGeom prst="rect">
            <a:avLst/>
          </a:prstGeom>
          <a:solidFill>
            <a:srgbClr val="0E0E14"/>
          </a:solidFill>
          <a:ln w="12700">
            <a:solidFill>
              <a:srgbClr val="FF0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4590288" y="2660904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4590288" y="266090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6565392" y="2660904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6661404" y="266090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4590288" y="418338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4590288" y="4087368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6565392" y="418338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6661404" y="4087368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4681728" y="2752344"/>
            <a:ext cx="411480" cy="411480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4681728" y="2752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000" dirty="0"/>
          </a:p>
        </p:txBody>
      </p:sp>
      <p:sp>
        <p:nvSpPr>
          <p:cNvPr id="106" name="Text 104"/>
          <p:cNvSpPr/>
          <p:nvPr/>
        </p:nvSpPr>
        <p:spPr>
          <a:xfrm>
            <a:off x="5157216" y="27797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your 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4681728" y="33009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SURFACE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4681728" y="3739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· framework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6748272" y="2660904"/>
            <a:ext cx="2103120" cy="1554480"/>
          </a:xfrm>
          <a:prstGeom prst="rect">
            <a:avLst/>
          </a:prstGeom>
          <a:solidFill>
            <a:srgbClr val="0E0E14"/>
          </a:solidFill>
          <a:ln w="12700">
            <a:solidFill>
              <a:srgbClr val="FF0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6748272" y="2660904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6748272" y="266090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8723376" y="2660904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819388" y="2660904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6748272" y="418338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6748272" y="4087368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8723376" y="4183380"/>
            <a:ext cx="128016" cy="32004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8819388" y="4087368"/>
            <a:ext cx="32004" cy="12801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6839712" y="2752344"/>
            <a:ext cx="411480" cy="411480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6839712" y="2752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000" dirty="0"/>
          </a:p>
        </p:txBody>
      </p:sp>
      <p:sp>
        <p:nvSpPr>
          <p:cNvPr id="120" name="Text 118"/>
          <p:cNvSpPr/>
          <p:nvPr/>
        </p:nvSpPr>
        <p:spPr>
          <a:xfrm>
            <a:off x="7315200" y="27797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AGENTS</a:t>
            </a:r>
            <a:endParaRPr lang="en-US" sz="1050" dirty="0"/>
          </a:p>
        </p:txBody>
      </p:sp>
      <p:sp>
        <p:nvSpPr>
          <p:cNvPr id="121" name="Text 119"/>
          <p:cNvSpPr/>
          <p:nvPr/>
        </p:nvSpPr>
        <p:spPr>
          <a:xfrm>
            <a:off x="6839712" y="33009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PRODUCTION</a:t>
            </a:r>
            <a:endParaRPr lang="en-US" sz="1050" dirty="0"/>
          </a:p>
        </p:txBody>
      </p:sp>
      <p:sp>
        <p:nvSpPr>
          <p:cNvPr id="122" name="Text 120"/>
          <p:cNvSpPr/>
          <p:nvPr/>
        </p:nvSpPr>
        <p:spPr>
          <a:xfrm>
            <a:off x="6839712" y="3739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cross-cutting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274320" y="42519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MONTHS IN PROD-ADJACENT WORKLOADS. THEY WORK.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19/22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00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5 :: THE EIGHT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29260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THE TWO MOST-SKIPPED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 + AUTHORIZATION. WHERE THE HEADLINES COME FROM.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0058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YOUR AUDIT LOG TUESDAY. TWO QUESTIONS: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8595360" cy="1325880"/>
          </a:xfrm>
          <a:prstGeom prst="rect">
            <a:avLst/>
          </a:prstGeom>
          <a:solidFill>
            <a:srgbClr val="0E0E14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371600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371600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741664" y="1371600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837676" y="1371600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665476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569464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741664" y="2665476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37676" y="2569464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14630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WHO'S THE ACTOR?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18288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name</a:t>
            </a: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unprotected. </a:t>
            </a:r>
            <a:r>
              <a:rPr lang="en-US" sz="12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ServiceAccount</a:t>
            </a: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better.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bound token + workload identity = </a:t>
            </a: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backstop.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8595360" cy="1325880"/>
          </a:xfrm>
          <a:prstGeom prst="rect">
            <a:avLst/>
          </a:prstGeom>
          <a:solidFill>
            <a:srgbClr val="0E0E14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41664" y="2834640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837676" y="2834640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4128516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4032504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741664" y="4128516"/>
            <a:ext cx="128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37676" y="4032504"/>
            <a:ext cx="32004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29260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THE SCOPE?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329184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cluster-admin</a:t>
            </a: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unprotected. </a:t>
            </a:r>
            <a:r>
              <a:rPr lang="en-US" sz="12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Role</a:t>
            </a: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better.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ReducedBoundScope with explicit verbs = </a:t>
            </a: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backstop.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42062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AI IN PROD? REDUCE SCOPE TO ONLY WHAT IS NEEDED.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20/22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6B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6B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6 :: CONTINUE?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USE WHAT WE ALREADY KNOW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is a new kind of application.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Restricting malicious actors isn't a new problem.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6227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8134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0042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1949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33856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05763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477670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9578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1485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93392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65299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337206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09114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681021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852928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024835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96742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68650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40557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712464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84371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56278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228186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00093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0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43907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915814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87722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259629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431536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603443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775350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947258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19165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291072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462979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634886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806794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978701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150608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322515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494422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666330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838237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010144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182051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353958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525866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697773" y="187452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74320" y="201168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DON'T GIVE IT ACCESS, IT CAN'T DO ANYTHING.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274320" y="23317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 the agent like the most capable malicious actor — if you tell it to be.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74320" y="27889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 AT THE OS LAYER. MICRO VMs, NOT CONTAINERS.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274320" y="31089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WASM and containers are useful but breakable. Docker Desktop added Micro-VMs to their system in April.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46227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18134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90042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61949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133856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305763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477670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649578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821485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93392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165299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337206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509114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681021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852928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024835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196742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368650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3540557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3712464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884371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4056278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4228186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400093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4572000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743907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915814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087722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259629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431536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603443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5775350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5947258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6119165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6291072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6462979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6634886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6806794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6978701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7150608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7322515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7494422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7666330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7838237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8010144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182051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8353958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525866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8697773" y="352044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274320" y="3703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0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OS-LEVEL ISOLATION IS CURRENTLY THE STRONGEST LINE.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1UP  21/22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6B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6B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" y="4480560"/>
            <a:ext cx="892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◄ LEVEL 6 :: CONTINUE? 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" y="4864608"/>
            <a:ext cx="8924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 AUSTIN Q2  ·  MAY 11, 2026  ·  MICHAEL FORRESTER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50292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581193" y="640080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5051" y="640080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7334" y="693938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1193" y="693938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5051" y="693938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8909" y="693938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3476" y="74779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7334" y="74779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1193" y="74779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5051" y="74779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8909" y="74779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2767" y="74779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9618" y="80165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3476" y="80165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1193" y="80165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5051" y="80165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2767" y="80165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6625" y="80165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9618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3476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27334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81193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5051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8909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42767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96625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0483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19618" y="90937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27334" y="90937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81193" y="90937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5051" y="90937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88909" y="90937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96625" y="90937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65760" y="96322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3476" y="96322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42767" y="96322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50483" y="96322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19618" y="101708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27334" y="101708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88909" y="101708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96625" y="101708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307873" y="640080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361731" y="640080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254014" y="693938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307873" y="693938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361731" y="693938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415589" y="693938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200156" y="74779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254014" y="74779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307873" y="74779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361731" y="74779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415589" y="74779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469447" y="747796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146298" y="80165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200156" y="80165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307873" y="80165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361731" y="80165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469447" y="80165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523305" y="801654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8092440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146298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200156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254014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307873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361731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415589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469447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523305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8577163" y="855513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8146298" y="90937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254014" y="90937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307873" y="90937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8361731" y="90937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8415589" y="90937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8523305" y="909371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092440" y="96322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8200156" y="96322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469447" y="96322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577163" y="963229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146298" y="101708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254014" y="101708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415589" y="101708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8523305" y="1017087"/>
            <a:ext cx="51115" cy="51115"/>
          </a:xfrm>
          <a:prstGeom prst="rect">
            <a:avLst/>
          </a:prstGeom>
          <a:solidFill>
            <a:srgbClr val="FF00D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74320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46227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618134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90042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961949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133856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305763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477670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649578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821485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1993392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165299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337206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509114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681021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2852928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024835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196742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368650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540557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712464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884371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4056278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4228186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4400093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4572000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4743907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915814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5087722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5259629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5431536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603443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5775350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5947258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6119165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6291072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462979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6634886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6806794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6978701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7150608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7322515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7494422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7666330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7838237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8010144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8182051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8353958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8525866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8697773" y="1554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274320" y="17830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 REPO, EXAMPLES, BYPASS APPENDIX:</a:t>
            </a:r>
            <a:endParaRPr lang="en-US" sz="1200" dirty="0"/>
          </a:p>
        </p:txBody>
      </p:sp>
      <p:sp>
        <p:nvSpPr>
          <p:cNvPr id="145" name="Text 143"/>
          <p:cNvSpPr/>
          <p:nvPr/>
        </p:nvSpPr>
        <p:spPr>
          <a:xfrm>
            <a:off x="1695297" y="2100131"/>
            <a:ext cx="74724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</a:t>
            </a:r>
            <a:r>
              <a:rPr lang="en-US" sz="1800" b="1" dirty="0" err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peopleforrester</a:t>
            </a:r>
            <a:r>
              <a:rPr lang="en-US" sz="18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SREday-Texas-2026</a:t>
            </a:r>
            <a:endParaRPr lang="en-US" sz="1800" dirty="0"/>
          </a:p>
        </p:txBody>
      </p:sp>
      <p:sp>
        <p:nvSpPr>
          <p:cNvPr id="146" name="Shape 144"/>
          <p:cNvSpPr/>
          <p:nvPr/>
        </p:nvSpPr>
        <p:spPr>
          <a:xfrm>
            <a:off x="274320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446227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618134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790042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961949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1133856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1305763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1477670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1649578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1821485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1993392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2165299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2337206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2509114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2681021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2852928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3024835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3196742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3368650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3540557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3712464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3884371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4056278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4228186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4400093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572000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743907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4915814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087722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259629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5431536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5603443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5775350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5947258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6119165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6291072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6462979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6634886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6806794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6978701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7150608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7322515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7494422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7666330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7838237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8010144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8182051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8353958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8525866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8697773" y="2697480"/>
            <a:ext cx="914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194"/>
          <p:cNvSpPr/>
          <p:nvPr/>
        </p:nvSpPr>
        <p:spPr>
          <a:xfrm>
            <a:off x="274320" y="2880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</a:t>
            </a:r>
            <a:endParaRPr lang="en-US" sz="1000" dirty="0"/>
          </a:p>
        </p:txBody>
      </p:sp>
      <p:sp>
        <p:nvSpPr>
          <p:cNvPr id="197" name="Text 195"/>
          <p:cNvSpPr/>
          <p:nvPr/>
        </p:nvSpPr>
        <p:spPr>
          <a:xfrm>
            <a:off x="274320" y="31546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MICHAEL FORRESTER  ·  @peopleforrester</a:t>
            </a:r>
            <a:endParaRPr lang="en-US" sz="1400" dirty="0"/>
          </a:p>
        </p:txBody>
      </p:sp>
      <p:sp>
        <p:nvSpPr>
          <p:cNvPr id="198" name="Text 196"/>
          <p:cNvSpPr/>
          <p:nvPr/>
        </p:nvSpPr>
        <p:spPr>
          <a:xfrm>
            <a:off x="274320" y="35204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E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MichaelRishiForrester.com</a:t>
            </a:r>
            <a:endParaRPr lang="en-US" sz="1200" dirty="0"/>
          </a:p>
        </p:txBody>
      </p:sp>
      <p:sp>
        <p:nvSpPr>
          <p:cNvPr id="199" name="Text 197"/>
          <p:cNvSpPr/>
          <p:nvPr/>
        </p:nvSpPr>
        <p:spPr>
          <a:xfrm>
            <a:off x="274320" y="39502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@peopleforrester on X/twitter, </a:t>
            </a:r>
            <a:r>
              <a:rPr lang="en-US" sz="1100" b="1" kern="0" spc="200" dirty="0" err="1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bluesky</a:t>
            </a:r>
            <a:r>
              <a:rPr lang="en-US" sz="1100" b="1" kern="0" spc="200" dirty="0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en-US" sz="1100" b="1" kern="0" spc="200" dirty="0" err="1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hacyderm</a:t>
            </a:r>
            <a:r>
              <a:rPr lang="en-US" sz="1100" b="1" kern="0" spc="200" dirty="0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en-US" sz="1100" b="1" kern="0" spc="200" dirty="0" err="1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github</a:t>
            </a:r>
            <a:r>
              <a:rPr lang="en-US" sz="1100" b="1" kern="0" spc="200" dirty="0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en-US" sz="1100" b="1" kern="0" spc="200" dirty="0" err="1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etc</a:t>
            </a:r>
            <a:endParaRPr lang="en-US" sz="1100" dirty="0"/>
          </a:p>
        </p:txBody>
      </p:sp>
      <p:sp>
        <p:nvSpPr>
          <p:cNvPr id="1025" name="AutoShape 6">
            <a:extLst>
              <a:ext uri="{FF2B5EF4-FFF2-40B4-BE49-F238E27FC236}">
                <a16:creationId xmlns:a16="http://schemas.microsoft.com/office/drawing/2014/main" id="{AED13A96-51A0-3455-5ED9-2D4DBE1372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7" name="AutoShape 8">
            <a:extLst>
              <a:ext uri="{FF2B5EF4-FFF2-40B4-BE49-F238E27FC236}">
                <a16:creationId xmlns:a16="http://schemas.microsoft.com/office/drawing/2014/main" id="{583D1565-223F-D039-2D0E-5A6D5C7344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56739" y="256489"/>
            <a:ext cx="2620061" cy="2620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E1708BD6-4691-3A4F-00F9-3355C189A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474653"/>
            <a:ext cx="1994417" cy="1988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1686</Words>
  <Application>Microsoft Office PowerPoint</Application>
  <PresentationFormat>On-screen Show (16:9)</PresentationFormat>
  <Paragraphs>337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Day an AI Agent Deleted My Cluster</dc:title>
  <dc:subject>PptxGenJS Presentation</dc:subject>
  <dc:creator>Michael Forrester — Accenture</dc:creator>
  <cp:lastModifiedBy>Michael Forrester</cp:lastModifiedBy>
  <cp:revision>4</cp:revision>
  <dcterms:created xsi:type="dcterms:W3CDTF">2026-05-11T14:57:16Z</dcterms:created>
  <dcterms:modified xsi:type="dcterms:W3CDTF">2026-05-11T18:03:17Z</dcterms:modified>
</cp:coreProperties>
</file>