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0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91842" y="4201705"/>
            <a:ext cx="54864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22765" y="288959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56427" y="2621158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93638" y="3367449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618729" y="22001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785584" y="3817866"/>
            <a:ext cx="54864" cy="54864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827920" y="2009622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35864" y="668833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41103" y="4297483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70563" y="711609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866886" y="1951543"/>
            <a:ext cx="54864" cy="54864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251443" y="3853943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6213" y="31098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063895" y="3319022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764272" y="2677812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228693" y="260466"/>
            <a:ext cx="54864" cy="54864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418616" y="4183736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436393" y="1274410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069142" y="1301168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5719" y="4174165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407207" y="246704"/>
            <a:ext cx="54864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639910" y="2706069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54656" y="3294420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539447" y="36244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848006" y="3871558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703298" y="1922481"/>
            <a:ext cx="54864" cy="54864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052374" y="733452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179793" y="4296888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588125" y="647796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395" y="2038777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919371" y="3799317"/>
            <a:ext cx="54864" cy="54864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7982619" y="18030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838496" y="3391390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3027783" y="2592625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868735" y="303758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3202624" y="4210146"/>
            <a:ext cx="54864" cy="54864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34421" y="1195262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7869728" y="1382219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090643" y="4143269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4336" y="207600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10340" y="2790056"/>
            <a:ext cx="54864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8274679" y="3219493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1173678" y="53985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2536206" y="3922397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8826162" y="1835715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719541" y="800417"/>
            <a:ext cx="54864" cy="54864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69299" y="4292736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510625" y="586470"/>
            <a:ext cx="36576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569522" y="2126193"/>
            <a:ext cx="36576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88387" y="3741958"/>
            <a:ext cx="36576" cy="36576"/>
          </a:xfrm>
          <a:prstGeom prst="rect">
            <a:avLst/>
          </a:prstGeom>
          <a:solidFill>
            <a:srgbClr val="8888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81193" y="91440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35051" y="91440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27334" y="145298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581193" y="145298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635051" y="145298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688909" y="145298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473476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27334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81193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635051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688909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742767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19618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473476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81193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635051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742767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796625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365760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419618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473476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527334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581193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635051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688909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742767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796625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850483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419618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527334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581193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635051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688909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796625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365760" y="414589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473476" y="414589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742767" y="414589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850483" y="414589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419618" y="468447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527334" y="468447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688909" y="468447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796625" y="468447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1890796" y="91440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2213945" y="91440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1944654" y="14529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2160087" y="14529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1890796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1944654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1998513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2052371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2106229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2160087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2213945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1836938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1890796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1998513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2052371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2106229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2213945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2267803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1783080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1836938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1890796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1944654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1998513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2052371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2106229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2160087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2213945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2267803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2321662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1783080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1890796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1944654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1998513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2052371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2106229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2160087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2213945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2321662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1783080" y="41458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1890796" y="41458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2213945" y="41458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>
            <a:off x="2321662" y="41458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>
            <a:off x="1944654" y="46844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1998513" y="46844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2106229" y="46844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2160087" y="46844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3415833" y="91440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3469691" y="91440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3361974" y="145298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3415833" y="145298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3469691" y="145298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3523549" y="145298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>
            <a:off x="3308116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3361974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>
            <a:off x="3415833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3469691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3523549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9"/>
          <p:cNvSpPr/>
          <p:nvPr/>
        </p:nvSpPr>
        <p:spPr>
          <a:xfrm>
            <a:off x="3577407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3254258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Shape 151"/>
          <p:cNvSpPr/>
          <p:nvPr/>
        </p:nvSpPr>
        <p:spPr>
          <a:xfrm>
            <a:off x="3308116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Shape 152"/>
          <p:cNvSpPr/>
          <p:nvPr/>
        </p:nvSpPr>
        <p:spPr>
          <a:xfrm>
            <a:off x="3415833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3469691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4"/>
          <p:cNvSpPr/>
          <p:nvPr/>
        </p:nvSpPr>
        <p:spPr>
          <a:xfrm>
            <a:off x="3577407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55"/>
          <p:cNvSpPr/>
          <p:nvPr/>
        </p:nvSpPr>
        <p:spPr>
          <a:xfrm>
            <a:off x="3631265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3200400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3254258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3308116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3361974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3415833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3469691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3523549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3577407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3631265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3685123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3254258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3361974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3415833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3469691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3523549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3631265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3200400" y="414589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3308116" y="414589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3577407" y="414589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3685123" y="414589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3254258" y="468447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3361974" y="468447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3523549" y="468447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3631265" y="468447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4725436" y="91440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5048585" y="91440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4779294" y="14529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4994727" y="14529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4725436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4779294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4833153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4887011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4940869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4994727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5048585" y="19915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4671578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4725436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4833153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4887011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4940869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5048585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5102443" y="25301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4617720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4671578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4725436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4779294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4833153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4887011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4940869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4994727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5048585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5102443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5156302" y="30687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4617720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4725436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Shape 211"/>
          <p:cNvSpPr/>
          <p:nvPr/>
        </p:nvSpPr>
        <p:spPr>
          <a:xfrm>
            <a:off x="4779294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4" name="Shape 212"/>
          <p:cNvSpPr/>
          <p:nvPr/>
        </p:nvSpPr>
        <p:spPr>
          <a:xfrm>
            <a:off x="4833153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5" name="Shape 213"/>
          <p:cNvSpPr/>
          <p:nvPr/>
        </p:nvSpPr>
        <p:spPr>
          <a:xfrm>
            <a:off x="4887011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6" name="Shape 214"/>
          <p:cNvSpPr/>
          <p:nvPr/>
        </p:nvSpPr>
        <p:spPr>
          <a:xfrm>
            <a:off x="4940869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7" name="Shape 215"/>
          <p:cNvSpPr/>
          <p:nvPr/>
        </p:nvSpPr>
        <p:spPr>
          <a:xfrm>
            <a:off x="4994727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8" name="Shape 216"/>
          <p:cNvSpPr/>
          <p:nvPr/>
        </p:nvSpPr>
        <p:spPr>
          <a:xfrm>
            <a:off x="5048585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9" name="Shape 217"/>
          <p:cNvSpPr/>
          <p:nvPr/>
        </p:nvSpPr>
        <p:spPr>
          <a:xfrm>
            <a:off x="5156302" y="36073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0" name="Shape 218"/>
          <p:cNvSpPr/>
          <p:nvPr/>
        </p:nvSpPr>
        <p:spPr>
          <a:xfrm>
            <a:off x="4617720" y="41458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1" name="Shape 219"/>
          <p:cNvSpPr/>
          <p:nvPr/>
        </p:nvSpPr>
        <p:spPr>
          <a:xfrm>
            <a:off x="4725436" y="41458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2" name="Shape 220"/>
          <p:cNvSpPr/>
          <p:nvPr/>
        </p:nvSpPr>
        <p:spPr>
          <a:xfrm>
            <a:off x="5048585" y="41458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3" name="Shape 221"/>
          <p:cNvSpPr/>
          <p:nvPr/>
        </p:nvSpPr>
        <p:spPr>
          <a:xfrm>
            <a:off x="5156302" y="41458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4" name="Shape 222"/>
          <p:cNvSpPr/>
          <p:nvPr/>
        </p:nvSpPr>
        <p:spPr>
          <a:xfrm>
            <a:off x="4779294" y="46844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5" name="Shape 223"/>
          <p:cNvSpPr/>
          <p:nvPr/>
        </p:nvSpPr>
        <p:spPr>
          <a:xfrm>
            <a:off x="4833153" y="46844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6" name="Shape 224"/>
          <p:cNvSpPr/>
          <p:nvPr/>
        </p:nvSpPr>
        <p:spPr>
          <a:xfrm>
            <a:off x="4940869" y="46844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7" name="Shape 225"/>
          <p:cNvSpPr/>
          <p:nvPr/>
        </p:nvSpPr>
        <p:spPr>
          <a:xfrm>
            <a:off x="4994727" y="46844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8" name="Shape 226"/>
          <p:cNvSpPr/>
          <p:nvPr/>
        </p:nvSpPr>
        <p:spPr>
          <a:xfrm>
            <a:off x="6250473" y="91440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9" name="Shape 227"/>
          <p:cNvSpPr/>
          <p:nvPr/>
        </p:nvSpPr>
        <p:spPr>
          <a:xfrm>
            <a:off x="6304331" y="91440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0" name="Shape 228"/>
          <p:cNvSpPr/>
          <p:nvPr/>
        </p:nvSpPr>
        <p:spPr>
          <a:xfrm>
            <a:off x="6196614" y="145298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1" name="Shape 229"/>
          <p:cNvSpPr/>
          <p:nvPr/>
        </p:nvSpPr>
        <p:spPr>
          <a:xfrm>
            <a:off x="6250473" y="145298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2" name="Shape 230"/>
          <p:cNvSpPr/>
          <p:nvPr/>
        </p:nvSpPr>
        <p:spPr>
          <a:xfrm>
            <a:off x="6304331" y="145298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3" name="Shape 231"/>
          <p:cNvSpPr/>
          <p:nvPr/>
        </p:nvSpPr>
        <p:spPr>
          <a:xfrm>
            <a:off x="6358189" y="145298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Shape 232"/>
          <p:cNvSpPr/>
          <p:nvPr/>
        </p:nvSpPr>
        <p:spPr>
          <a:xfrm>
            <a:off x="6142756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5" name="Shape 233"/>
          <p:cNvSpPr/>
          <p:nvPr/>
        </p:nvSpPr>
        <p:spPr>
          <a:xfrm>
            <a:off x="6196614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Shape 234"/>
          <p:cNvSpPr/>
          <p:nvPr/>
        </p:nvSpPr>
        <p:spPr>
          <a:xfrm>
            <a:off x="6250473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7" name="Shape 235"/>
          <p:cNvSpPr/>
          <p:nvPr/>
        </p:nvSpPr>
        <p:spPr>
          <a:xfrm>
            <a:off x="6304331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Shape 236"/>
          <p:cNvSpPr/>
          <p:nvPr/>
        </p:nvSpPr>
        <p:spPr>
          <a:xfrm>
            <a:off x="6358189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Shape 237"/>
          <p:cNvSpPr/>
          <p:nvPr/>
        </p:nvSpPr>
        <p:spPr>
          <a:xfrm>
            <a:off x="6412047" y="199156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Shape 238"/>
          <p:cNvSpPr/>
          <p:nvPr/>
        </p:nvSpPr>
        <p:spPr>
          <a:xfrm>
            <a:off x="6088898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1" name="Shape 239"/>
          <p:cNvSpPr/>
          <p:nvPr/>
        </p:nvSpPr>
        <p:spPr>
          <a:xfrm>
            <a:off x="6142756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Shape 240"/>
          <p:cNvSpPr/>
          <p:nvPr/>
        </p:nvSpPr>
        <p:spPr>
          <a:xfrm>
            <a:off x="6250473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3" name="Shape 241"/>
          <p:cNvSpPr/>
          <p:nvPr/>
        </p:nvSpPr>
        <p:spPr>
          <a:xfrm>
            <a:off x="6304331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4" name="Shape 242"/>
          <p:cNvSpPr/>
          <p:nvPr/>
        </p:nvSpPr>
        <p:spPr>
          <a:xfrm>
            <a:off x="6412047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5" name="Shape 243"/>
          <p:cNvSpPr/>
          <p:nvPr/>
        </p:nvSpPr>
        <p:spPr>
          <a:xfrm>
            <a:off x="6465905" y="253014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Shape 244"/>
          <p:cNvSpPr/>
          <p:nvPr/>
        </p:nvSpPr>
        <p:spPr>
          <a:xfrm>
            <a:off x="6035040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Shape 245"/>
          <p:cNvSpPr/>
          <p:nvPr/>
        </p:nvSpPr>
        <p:spPr>
          <a:xfrm>
            <a:off x="6088898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Shape 246"/>
          <p:cNvSpPr/>
          <p:nvPr/>
        </p:nvSpPr>
        <p:spPr>
          <a:xfrm>
            <a:off x="6142756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9" name="Shape 247"/>
          <p:cNvSpPr/>
          <p:nvPr/>
        </p:nvSpPr>
        <p:spPr>
          <a:xfrm>
            <a:off x="6196614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0" name="Shape 248"/>
          <p:cNvSpPr/>
          <p:nvPr/>
        </p:nvSpPr>
        <p:spPr>
          <a:xfrm>
            <a:off x="6250473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1" name="Shape 249"/>
          <p:cNvSpPr/>
          <p:nvPr/>
        </p:nvSpPr>
        <p:spPr>
          <a:xfrm>
            <a:off x="6304331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2" name="Shape 250"/>
          <p:cNvSpPr/>
          <p:nvPr/>
        </p:nvSpPr>
        <p:spPr>
          <a:xfrm>
            <a:off x="6358189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3" name="Shape 251"/>
          <p:cNvSpPr/>
          <p:nvPr/>
        </p:nvSpPr>
        <p:spPr>
          <a:xfrm>
            <a:off x="6412047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4" name="Shape 252"/>
          <p:cNvSpPr/>
          <p:nvPr/>
        </p:nvSpPr>
        <p:spPr>
          <a:xfrm>
            <a:off x="6465905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5" name="Shape 253"/>
          <p:cNvSpPr/>
          <p:nvPr/>
        </p:nvSpPr>
        <p:spPr>
          <a:xfrm>
            <a:off x="6519763" y="306873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6" name="Shape 254"/>
          <p:cNvSpPr/>
          <p:nvPr/>
        </p:nvSpPr>
        <p:spPr>
          <a:xfrm>
            <a:off x="6088898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7" name="Shape 255"/>
          <p:cNvSpPr/>
          <p:nvPr/>
        </p:nvSpPr>
        <p:spPr>
          <a:xfrm>
            <a:off x="6196614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8" name="Shape 256"/>
          <p:cNvSpPr/>
          <p:nvPr/>
        </p:nvSpPr>
        <p:spPr>
          <a:xfrm>
            <a:off x="6250473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9" name="Shape 257"/>
          <p:cNvSpPr/>
          <p:nvPr/>
        </p:nvSpPr>
        <p:spPr>
          <a:xfrm>
            <a:off x="6304331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0" name="Shape 258"/>
          <p:cNvSpPr/>
          <p:nvPr/>
        </p:nvSpPr>
        <p:spPr>
          <a:xfrm>
            <a:off x="6358189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1" name="Shape 259"/>
          <p:cNvSpPr/>
          <p:nvPr/>
        </p:nvSpPr>
        <p:spPr>
          <a:xfrm>
            <a:off x="6465905" y="360731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2" name="Shape 260"/>
          <p:cNvSpPr/>
          <p:nvPr/>
        </p:nvSpPr>
        <p:spPr>
          <a:xfrm>
            <a:off x="6035040" y="414589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Shape 261"/>
          <p:cNvSpPr/>
          <p:nvPr/>
        </p:nvSpPr>
        <p:spPr>
          <a:xfrm>
            <a:off x="6142756" y="414589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Shape 262"/>
          <p:cNvSpPr/>
          <p:nvPr/>
        </p:nvSpPr>
        <p:spPr>
          <a:xfrm>
            <a:off x="6412047" y="414589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5" name="Shape 263"/>
          <p:cNvSpPr/>
          <p:nvPr/>
        </p:nvSpPr>
        <p:spPr>
          <a:xfrm>
            <a:off x="6519763" y="414589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Shape 264"/>
          <p:cNvSpPr/>
          <p:nvPr/>
        </p:nvSpPr>
        <p:spPr>
          <a:xfrm>
            <a:off x="6088898" y="468447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265"/>
          <p:cNvSpPr/>
          <p:nvPr/>
        </p:nvSpPr>
        <p:spPr>
          <a:xfrm>
            <a:off x="6196614" y="468447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Shape 266"/>
          <p:cNvSpPr/>
          <p:nvPr/>
        </p:nvSpPr>
        <p:spPr>
          <a:xfrm>
            <a:off x="6358189" y="468447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267"/>
          <p:cNvSpPr/>
          <p:nvPr/>
        </p:nvSpPr>
        <p:spPr>
          <a:xfrm>
            <a:off x="6465905" y="468447"/>
            <a:ext cx="51115" cy="51115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268"/>
          <p:cNvSpPr/>
          <p:nvPr/>
        </p:nvSpPr>
        <p:spPr>
          <a:xfrm>
            <a:off x="7560076" y="91440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1" name="Shape 269"/>
          <p:cNvSpPr/>
          <p:nvPr/>
        </p:nvSpPr>
        <p:spPr>
          <a:xfrm>
            <a:off x="7883225" y="91440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2" name="Shape 270"/>
          <p:cNvSpPr/>
          <p:nvPr/>
        </p:nvSpPr>
        <p:spPr>
          <a:xfrm>
            <a:off x="7613934" y="145298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Shape 271"/>
          <p:cNvSpPr/>
          <p:nvPr/>
        </p:nvSpPr>
        <p:spPr>
          <a:xfrm>
            <a:off x="7829367" y="145298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4" name="Shape 272"/>
          <p:cNvSpPr/>
          <p:nvPr/>
        </p:nvSpPr>
        <p:spPr>
          <a:xfrm>
            <a:off x="7560076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5" name="Shape 273"/>
          <p:cNvSpPr/>
          <p:nvPr/>
        </p:nvSpPr>
        <p:spPr>
          <a:xfrm>
            <a:off x="7613934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6" name="Shape 274"/>
          <p:cNvSpPr/>
          <p:nvPr/>
        </p:nvSpPr>
        <p:spPr>
          <a:xfrm>
            <a:off x="7667793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7" name="Shape 275"/>
          <p:cNvSpPr/>
          <p:nvPr/>
        </p:nvSpPr>
        <p:spPr>
          <a:xfrm>
            <a:off x="7721651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8" name="Shape 276"/>
          <p:cNvSpPr/>
          <p:nvPr/>
        </p:nvSpPr>
        <p:spPr>
          <a:xfrm>
            <a:off x="7775509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Shape 277"/>
          <p:cNvSpPr/>
          <p:nvPr/>
        </p:nvSpPr>
        <p:spPr>
          <a:xfrm>
            <a:off x="7829367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0" name="Shape 278"/>
          <p:cNvSpPr/>
          <p:nvPr/>
        </p:nvSpPr>
        <p:spPr>
          <a:xfrm>
            <a:off x="7883225" y="199156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1" name="Shape 279"/>
          <p:cNvSpPr/>
          <p:nvPr/>
        </p:nvSpPr>
        <p:spPr>
          <a:xfrm>
            <a:off x="7506218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Shape 280"/>
          <p:cNvSpPr/>
          <p:nvPr/>
        </p:nvSpPr>
        <p:spPr>
          <a:xfrm>
            <a:off x="7560076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3" name="Shape 281"/>
          <p:cNvSpPr/>
          <p:nvPr/>
        </p:nvSpPr>
        <p:spPr>
          <a:xfrm>
            <a:off x="7667793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4" name="Shape 282"/>
          <p:cNvSpPr/>
          <p:nvPr/>
        </p:nvSpPr>
        <p:spPr>
          <a:xfrm>
            <a:off x="7721651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Shape 283"/>
          <p:cNvSpPr/>
          <p:nvPr/>
        </p:nvSpPr>
        <p:spPr>
          <a:xfrm>
            <a:off x="7775509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6" name="Shape 284"/>
          <p:cNvSpPr/>
          <p:nvPr/>
        </p:nvSpPr>
        <p:spPr>
          <a:xfrm>
            <a:off x="7883225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7" name="Shape 285"/>
          <p:cNvSpPr/>
          <p:nvPr/>
        </p:nvSpPr>
        <p:spPr>
          <a:xfrm>
            <a:off x="7937083" y="253014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Shape 286"/>
          <p:cNvSpPr/>
          <p:nvPr/>
        </p:nvSpPr>
        <p:spPr>
          <a:xfrm>
            <a:off x="7452360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9" name="Shape 287"/>
          <p:cNvSpPr/>
          <p:nvPr/>
        </p:nvSpPr>
        <p:spPr>
          <a:xfrm>
            <a:off x="7506218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Shape 288"/>
          <p:cNvSpPr/>
          <p:nvPr/>
        </p:nvSpPr>
        <p:spPr>
          <a:xfrm>
            <a:off x="7560076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Shape 289"/>
          <p:cNvSpPr/>
          <p:nvPr/>
        </p:nvSpPr>
        <p:spPr>
          <a:xfrm>
            <a:off x="7613934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2" name="Shape 290"/>
          <p:cNvSpPr/>
          <p:nvPr/>
        </p:nvSpPr>
        <p:spPr>
          <a:xfrm>
            <a:off x="7667793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Shape 291"/>
          <p:cNvSpPr/>
          <p:nvPr/>
        </p:nvSpPr>
        <p:spPr>
          <a:xfrm>
            <a:off x="7721651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Shape 292"/>
          <p:cNvSpPr/>
          <p:nvPr/>
        </p:nvSpPr>
        <p:spPr>
          <a:xfrm>
            <a:off x="7775509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5" name="Shape 293"/>
          <p:cNvSpPr/>
          <p:nvPr/>
        </p:nvSpPr>
        <p:spPr>
          <a:xfrm>
            <a:off x="7829367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Shape 294"/>
          <p:cNvSpPr/>
          <p:nvPr/>
        </p:nvSpPr>
        <p:spPr>
          <a:xfrm>
            <a:off x="7883225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7" name="Shape 295"/>
          <p:cNvSpPr/>
          <p:nvPr/>
        </p:nvSpPr>
        <p:spPr>
          <a:xfrm>
            <a:off x="7937083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Shape 296"/>
          <p:cNvSpPr/>
          <p:nvPr/>
        </p:nvSpPr>
        <p:spPr>
          <a:xfrm>
            <a:off x="7990942" y="306873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9" name="Shape 297"/>
          <p:cNvSpPr/>
          <p:nvPr/>
        </p:nvSpPr>
        <p:spPr>
          <a:xfrm>
            <a:off x="7452360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Shape 298"/>
          <p:cNvSpPr/>
          <p:nvPr/>
        </p:nvSpPr>
        <p:spPr>
          <a:xfrm>
            <a:off x="7560076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Shape 299"/>
          <p:cNvSpPr/>
          <p:nvPr/>
        </p:nvSpPr>
        <p:spPr>
          <a:xfrm>
            <a:off x="7613934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2" name="Shape 300"/>
          <p:cNvSpPr/>
          <p:nvPr/>
        </p:nvSpPr>
        <p:spPr>
          <a:xfrm>
            <a:off x="7667793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3" name="Shape 301"/>
          <p:cNvSpPr/>
          <p:nvPr/>
        </p:nvSpPr>
        <p:spPr>
          <a:xfrm>
            <a:off x="7721651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4" name="Shape 302"/>
          <p:cNvSpPr/>
          <p:nvPr/>
        </p:nvSpPr>
        <p:spPr>
          <a:xfrm>
            <a:off x="7775509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5" name="Shape 303"/>
          <p:cNvSpPr/>
          <p:nvPr/>
        </p:nvSpPr>
        <p:spPr>
          <a:xfrm>
            <a:off x="7829367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Shape 304"/>
          <p:cNvSpPr/>
          <p:nvPr/>
        </p:nvSpPr>
        <p:spPr>
          <a:xfrm>
            <a:off x="7883225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7" name="Shape 305"/>
          <p:cNvSpPr/>
          <p:nvPr/>
        </p:nvSpPr>
        <p:spPr>
          <a:xfrm>
            <a:off x="7990942" y="360731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8" name="Shape 306"/>
          <p:cNvSpPr/>
          <p:nvPr/>
        </p:nvSpPr>
        <p:spPr>
          <a:xfrm>
            <a:off x="7452360" y="414589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9" name="Shape 307"/>
          <p:cNvSpPr/>
          <p:nvPr/>
        </p:nvSpPr>
        <p:spPr>
          <a:xfrm>
            <a:off x="7560076" y="414589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0" name="Shape 308"/>
          <p:cNvSpPr/>
          <p:nvPr/>
        </p:nvSpPr>
        <p:spPr>
          <a:xfrm>
            <a:off x="7883225" y="414589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Shape 309"/>
          <p:cNvSpPr/>
          <p:nvPr/>
        </p:nvSpPr>
        <p:spPr>
          <a:xfrm>
            <a:off x="7990942" y="414589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2" name="Shape 310"/>
          <p:cNvSpPr/>
          <p:nvPr/>
        </p:nvSpPr>
        <p:spPr>
          <a:xfrm>
            <a:off x="7613934" y="468447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3" name="Shape 311"/>
          <p:cNvSpPr/>
          <p:nvPr/>
        </p:nvSpPr>
        <p:spPr>
          <a:xfrm>
            <a:off x="7667793" y="468447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4" name="Shape 312"/>
          <p:cNvSpPr/>
          <p:nvPr/>
        </p:nvSpPr>
        <p:spPr>
          <a:xfrm>
            <a:off x="7775509" y="468447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5" name="Shape 313"/>
          <p:cNvSpPr/>
          <p:nvPr/>
        </p:nvSpPr>
        <p:spPr>
          <a:xfrm>
            <a:off x="7829367" y="468447"/>
            <a:ext cx="51115" cy="51115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6" name="Shape 314"/>
          <p:cNvSpPr/>
          <p:nvPr/>
        </p:nvSpPr>
        <p:spPr>
          <a:xfrm>
            <a:off x="868680" y="640080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7" name="Shape 315"/>
          <p:cNvSpPr/>
          <p:nvPr/>
        </p:nvSpPr>
        <p:spPr>
          <a:xfrm>
            <a:off x="868680" y="679765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8" name="Shape 316"/>
          <p:cNvSpPr/>
          <p:nvPr/>
        </p:nvSpPr>
        <p:spPr>
          <a:xfrm>
            <a:off x="868680" y="719450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9" name="Shape 317"/>
          <p:cNvSpPr/>
          <p:nvPr/>
        </p:nvSpPr>
        <p:spPr>
          <a:xfrm>
            <a:off x="868680" y="759135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0" name="Shape 318"/>
          <p:cNvSpPr/>
          <p:nvPr/>
        </p:nvSpPr>
        <p:spPr>
          <a:xfrm>
            <a:off x="3200400" y="640080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1" name="Shape 319"/>
          <p:cNvSpPr/>
          <p:nvPr/>
        </p:nvSpPr>
        <p:spPr>
          <a:xfrm>
            <a:off x="3200400" y="679765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2" name="Shape 320"/>
          <p:cNvSpPr/>
          <p:nvPr/>
        </p:nvSpPr>
        <p:spPr>
          <a:xfrm>
            <a:off x="3200400" y="719450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3" name="Shape 321"/>
          <p:cNvSpPr/>
          <p:nvPr/>
        </p:nvSpPr>
        <p:spPr>
          <a:xfrm>
            <a:off x="3200400" y="759135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4" name="Shape 322"/>
          <p:cNvSpPr/>
          <p:nvPr/>
        </p:nvSpPr>
        <p:spPr>
          <a:xfrm>
            <a:off x="5532120" y="640080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5" name="Shape 323"/>
          <p:cNvSpPr/>
          <p:nvPr/>
        </p:nvSpPr>
        <p:spPr>
          <a:xfrm>
            <a:off x="5532120" y="679765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6" name="Shape 324"/>
          <p:cNvSpPr/>
          <p:nvPr/>
        </p:nvSpPr>
        <p:spPr>
          <a:xfrm>
            <a:off x="5532120" y="719450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7" name="Shape 325"/>
          <p:cNvSpPr/>
          <p:nvPr/>
        </p:nvSpPr>
        <p:spPr>
          <a:xfrm>
            <a:off x="5532120" y="759135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8" name="Shape 326"/>
          <p:cNvSpPr/>
          <p:nvPr/>
        </p:nvSpPr>
        <p:spPr>
          <a:xfrm>
            <a:off x="7863840" y="640080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9" name="Shape 327"/>
          <p:cNvSpPr/>
          <p:nvPr/>
        </p:nvSpPr>
        <p:spPr>
          <a:xfrm>
            <a:off x="7863840" y="679765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0" name="Shape 328"/>
          <p:cNvSpPr/>
          <p:nvPr/>
        </p:nvSpPr>
        <p:spPr>
          <a:xfrm>
            <a:off x="7863840" y="719450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1" name="Shape 329"/>
          <p:cNvSpPr/>
          <p:nvPr/>
        </p:nvSpPr>
        <p:spPr>
          <a:xfrm>
            <a:off x="7863840" y="759135"/>
            <a:ext cx="36942" cy="36942"/>
          </a:xfrm>
          <a:prstGeom prst="rect">
            <a:avLst/>
          </a:prstGeom>
          <a:solidFill>
            <a:srgbClr val="FF174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2" name="Text 330"/>
          <p:cNvSpPr/>
          <p:nvPr/>
        </p:nvSpPr>
        <p:spPr>
          <a:xfrm>
            <a:off x="7040880" y="7132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HI-SCORE  999999</a:t>
            </a:r>
            <a:endParaRPr lang="en-US" sz="900" dirty="0"/>
          </a:p>
        </p:txBody>
      </p:sp>
      <p:sp>
        <p:nvSpPr>
          <p:cNvPr id="333" name="Text 331"/>
          <p:cNvSpPr/>
          <p:nvPr/>
        </p:nvSpPr>
        <p:spPr>
          <a:xfrm>
            <a:off x="274320" y="713232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</a:t>
            </a:r>
            <a:endParaRPr lang="en-US" sz="900" dirty="0"/>
          </a:p>
        </p:txBody>
      </p:sp>
      <p:sp>
        <p:nvSpPr>
          <p:cNvPr id="334" name="Text 332"/>
          <p:cNvSpPr/>
          <p:nvPr/>
        </p:nvSpPr>
        <p:spPr>
          <a:xfrm>
            <a:off x="274320" y="960120"/>
            <a:ext cx="8595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DAY AN AI AGENT</a:t>
            </a:r>
            <a:endParaRPr lang="en-US" sz="4400" dirty="0"/>
          </a:p>
        </p:txBody>
      </p:sp>
      <p:sp>
        <p:nvSpPr>
          <p:cNvPr id="335" name="Text 333"/>
          <p:cNvSpPr/>
          <p:nvPr/>
        </p:nvSpPr>
        <p:spPr>
          <a:xfrm>
            <a:off x="274320" y="1664208"/>
            <a:ext cx="85953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DELETED MY CLUSTER</a:t>
            </a:r>
            <a:endParaRPr lang="en-US" sz="5600" dirty="0"/>
          </a:p>
        </p:txBody>
      </p:sp>
      <p:sp>
        <p:nvSpPr>
          <p:cNvPr id="336" name="Text 334"/>
          <p:cNvSpPr/>
          <p:nvPr/>
        </p:nvSpPr>
        <p:spPr>
          <a:xfrm>
            <a:off x="274320" y="254203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THE GUARDRAILS THAT WOULD HAVE STOPPED IT</a:t>
            </a:r>
            <a:endParaRPr lang="en-US" sz="1600" dirty="0"/>
          </a:p>
        </p:txBody>
      </p:sp>
      <p:sp>
        <p:nvSpPr>
          <p:cNvPr id="337" name="Shape 335"/>
          <p:cNvSpPr/>
          <p:nvPr/>
        </p:nvSpPr>
        <p:spPr>
          <a:xfrm>
            <a:off x="274320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8" name="Shape 336"/>
          <p:cNvSpPr/>
          <p:nvPr/>
        </p:nvSpPr>
        <p:spPr>
          <a:xfrm>
            <a:off x="446227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9" name="Shape 337"/>
          <p:cNvSpPr/>
          <p:nvPr/>
        </p:nvSpPr>
        <p:spPr>
          <a:xfrm>
            <a:off x="618134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0" name="Shape 338"/>
          <p:cNvSpPr/>
          <p:nvPr/>
        </p:nvSpPr>
        <p:spPr>
          <a:xfrm>
            <a:off x="790042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1" name="Shape 339"/>
          <p:cNvSpPr/>
          <p:nvPr/>
        </p:nvSpPr>
        <p:spPr>
          <a:xfrm>
            <a:off x="961949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2" name="Shape 340"/>
          <p:cNvSpPr/>
          <p:nvPr/>
        </p:nvSpPr>
        <p:spPr>
          <a:xfrm>
            <a:off x="1133856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3" name="Shape 341"/>
          <p:cNvSpPr/>
          <p:nvPr/>
        </p:nvSpPr>
        <p:spPr>
          <a:xfrm>
            <a:off x="1305763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4" name="Shape 342"/>
          <p:cNvSpPr/>
          <p:nvPr/>
        </p:nvSpPr>
        <p:spPr>
          <a:xfrm>
            <a:off x="1477670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5" name="Shape 343"/>
          <p:cNvSpPr/>
          <p:nvPr/>
        </p:nvSpPr>
        <p:spPr>
          <a:xfrm>
            <a:off x="1649578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6" name="Shape 344"/>
          <p:cNvSpPr/>
          <p:nvPr/>
        </p:nvSpPr>
        <p:spPr>
          <a:xfrm>
            <a:off x="1821485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7" name="Shape 345"/>
          <p:cNvSpPr/>
          <p:nvPr/>
        </p:nvSpPr>
        <p:spPr>
          <a:xfrm>
            <a:off x="1993392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8" name="Shape 346"/>
          <p:cNvSpPr/>
          <p:nvPr/>
        </p:nvSpPr>
        <p:spPr>
          <a:xfrm>
            <a:off x="2165299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9" name="Shape 347"/>
          <p:cNvSpPr/>
          <p:nvPr/>
        </p:nvSpPr>
        <p:spPr>
          <a:xfrm>
            <a:off x="2337206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Shape 348"/>
          <p:cNvSpPr/>
          <p:nvPr/>
        </p:nvSpPr>
        <p:spPr>
          <a:xfrm>
            <a:off x="2509114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1" name="Shape 349"/>
          <p:cNvSpPr/>
          <p:nvPr/>
        </p:nvSpPr>
        <p:spPr>
          <a:xfrm>
            <a:off x="2681021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2" name="Shape 350"/>
          <p:cNvSpPr/>
          <p:nvPr/>
        </p:nvSpPr>
        <p:spPr>
          <a:xfrm>
            <a:off x="2852928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3" name="Shape 351"/>
          <p:cNvSpPr/>
          <p:nvPr/>
        </p:nvSpPr>
        <p:spPr>
          <a:xfrm>
            <a:off x="3024835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4" name="Shape 352"/>
          <p:cNvSpPr/>
          <p:nvPr/>
        </p:nvSpPr>
        <p:spPr>
          <a:xfrm>
            <a:off x="3196742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5" name="Shape 353"/>
          <p:cNvSpPr/>
          <p:nvPr/>
        </p:nvSpPr>
        <p:spPr>
          <a:xfrm>
            <a:off x="3368650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6" name="Shape 354"/>
          <p:cNvSpPr/>
          <p:nvPr/>
        </p:nvSpPr>
        <p:spPr>
          <a:xfrm>
            <a:off x="3540557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7" name="Shape 355"/>
          <p:cNvSpPr/>
          <p:nvPr/>
        </p:nvSpPr>
        <p:spPr>
          <a:xfrm>
            <a:off x="3712464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8" name="Shape 356"/>
          <p:cNvSpPr/>
          <p:nvPr/>
        </p:nvSpPr>
        <p:spPr>
          <a:xfrm>
            <a:off x="3884371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9" name="Shape 357"/>
          <p:cNvSpPr/>
          <p:nvPr/>
        </p:nvSpPr>
        <p:spPr>
          <a:xfrm>
            <a:off x="4056278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0" name="Shape 358"/>
          <p:cNvSpPr/>
          <p:nvPr/>
        </p:nvSpPr>
        <p:spPr>
          <a:xfrm>
            <a:off x="4228186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1" name="Shape 359"/>
          <p:cNvSpPr/>
          <p:nvPr/>
        </p:nvSpPr>
        <p:spPr>
          <a:xfrm>
            <a:off x="4400093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2" name="Shape 360"/>
          <p:cNvSpPr/>
          <p:nvPr/>
        </p:nvSpPr>
        <p:spPr>
          <a:xfrm>
            <a:off x="4572000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3" name="Shape 361"/>
          <p:cNvSpPr/>
          <p:nvPr/>
        </p:nvSpPr>
        <p:spPr>
          <a:xfrm>
            <a:off x="4743907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4" name="Shape 362"/>
          <p:cNvSpPr/>
          <p:nvPr/>
        </p:nvSpPr>
        <p:spPr>
          <a:xfrm>
            <a:off x="4915814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5" name="Shape 363"/>
          <p:cNvSpPr/>
          <p:nvPr/>
        </p:nvSpPr>
        <p:spPr>
          <a:xfrm>
            <a:off x="5087722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6" name="Shape 364"/>
          <p:cNvSpPr/>
          <p:nvPr/>
        </p:nvSpPr>
        <p:spPr>
          <a:xfrm>
            <a:off x="5259629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7" name="Shape 365"/>
          <p:cNvSpPr/>
          <p:nvPr/>
        </p:nvSpPr>
        <p:spPr>
          <a:xfrm>
            <a:off x="5431536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8" name="Shape 366"/>
          <p:cNvSpPr/>
          <p:nvPr/>
        </p:nvSpPr>
        <p:spPr>
          <a:xfrm>
            <a:off x="5603443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9" name="Shape 367"/>
          <p:cNvSpPr/>
          <p:nvPr/>
        </p:nvSpPr>
        <p:spPr>
          <a:xfrm>
            <a:off x="5775350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0" name="Shape 368"/>
          <p:cNvSpPr/>
          <p:nvPr/>
        </p:nvSpPr>
        <p:spPr>
          <a:xfrm>
            <a:off x="5947258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1" name="Shape 369"/>
          <p:cNvSpPr/>
          <p:nvPr/>
        </p:nvSpPr>
        <p:spPr>
          <a:xfrm>
            <a:off x="6119165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2" name="Shape 370"/>
          <p:cNvSpPr/>
          <p:nvPr/>
        </p:nvSpPr>
        <p:spPr>
          <a:xfrm>
            <a:off x="6291072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3" name="Shape 371"/>
          <p:cNvSpPr/>
          <p:nvPr/>
        </p:nvSpPr>
        <p:spPr>
          <a:xfrm>
            <a:off x="6462979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4" name="Shape 372"/>
          <p:cNvSpPr/>
          <p:nvPr/>
        </p:nvSpPr>
        <p:spPr>
          <a:xfrm>
            <a:off x="6634886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5" name="Shape 373"/>
          <p:cNvSpPr/>
          <p:nvPr/>
        </p:nvSpPr>
        <p:spPr>
          <a:xfrm>
            <a:off x="6806794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6" name="Shape 374"/>
          <p:cNvSpPr/>
          <p:nvPr/>
        </p:nvSpPr>
        <p:spPr>
          <a:xfrm>
            <a:off x="6978701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7" name="Shape 375"/>
          <p:cNvSpPr/>
          <p:nvPr/>
        </p:nvSpPr>
        <p:spPr>
          <a:xfrm>
            <a:off x="7150608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8" name="Shape 376"/>
          <p:cNvSpPr/>
          <p:nvPr/>
        </p:nvSpPr>
        <p:spPr>
          <a:xfrm>
            <a:off x="7322515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9" name="Shape 377"/>
          <p:cNvSpPr/>
          <p:nvPr/>
        </p:nvSpPr>
        <p:spPr>
          <a:xfrm>
            <a:off x="7494422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0" name="Shape 378"/>
          <p:cNvSpPr/>
          <p:nvPr/>
        </p:nvSpPr>
        <p:spPr>
          <a:xfrm>
            <a:off x="7666330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1" name="Shape 379"/>
          <p:cNvSpPr/>
          <p:nvPr/>
        </p:nvSpPr>
        <p:spPr>
          <a:xfrm>
            <a:off x="7838237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2" name="Shape 380"/>
          <p:cNvSpPr/>
          <p:nvPr/>
        </p:nvSpPr>
        <p:spPr>
          <a:xfrm>
            <a:off x="8010144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3" name="Shape 381"/>
          <p:cNvSpPr/>
          <p:nvPr/>
        </p:nvSpPr>
        <p:spPr>
          <a:xfrm>
            <a:off x="8182051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4" name="Shape 382"/>
          <p:cNvSpPr/>
          <p:nvPr/>
        </p:nvSpPr>
        <p:spPr>
          <a:xfrm>
            <a:off x="8353958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5" name="Shape 383"/>
          <p:cNvSpPr/>
          <p:nvPr/>
        </p:nvSpPr>
        <p:spPr>
          <a:xfrm>
            <a:off x="8525866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6" name="Shape 384"/>
          <p:cNvSpPr/>
          <p:nvPr/>
        </p:nvSpPr>
        <p:spPr>
          <a:xfrm>
            <a:off x="8697773" y="31546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7" name="Text 385"/>
          <p:cNvSpPr/>
          <p:nvPr/>
        </p:nvSpPr>
        <p:spPr>
          <a:xfrm>
            <a:off x="274320" y="32918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INSERT COIN TO CONTINUE ]</a:t>
            </a:r>
            <a:endParaRPr lang="en-US" sz="1600" dirty="0"/>
          </a:p>
        </p:txBody>
      </p:sp>
      <p:sp>
        <p:nvSpPr>
          <p:cNvPr id="388" name="Text 386"/>
          <p:cNvSpPr/>
          <p:nvPr/>
        </p:nvSpPr>
        <p:spPr>
          <a:xfrm>
            <a:off x="274320" y="374904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MICHAEL FORRESTER</a:t>
            </a:r>
            <a:endParaRPr lang="en-US" sz="1400" dirty="0"/>
          </a:p>
        </p:txBody>
      </p:sp>
      <p:sp>
        <p:nvSpPr>
          <p:cNvPr id="389" name="Text 387"/>
          <p:cNvSpPr/>
          <p:nvPr/>
        </p:nvSpPr>
        <p:spPr>
          <a:xfrm>
            <a:off x="274320" y="404164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WORKFORCE TRANSFORMATION SPECIALIST  ·  ACCENTURE</a:t>
            </a:r>
            <a:endParaRPr lang="en-US" sz="1000" dirty="0"/>
          </a:p>
        </p:txBody>
      </p:sp>
      <p:sp>
        <p:nvSpPr>
          <p:cNvPr id="390" name="Shape 388"/>
          <p:cNvSpPr/>
          <p:nvPr/>
        </p:nvSpPr>
        <p:spPr>
          <a:xfrm>
            <a:off x="540410" y="382219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1" name="Shape 389"/>
          <p:cNvSpPr/>
          <p:nvPr/>
        </p:nvSpPr>
        <p:spPr>
          <a:xfrm>
            <a:off x="478048" y="3884554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2" name="Shape 390"/>
          <p:cNvSpPr/>
          <p:nvPr/>
        </p:nvSpPr>
        <p:spPr>
          <a:xfrm>
            <a:off x="540410" y="3884554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3" name="Shape 391"/>
          <p:cNvSpPr/>
          <p:nvPr/>
        </p:nvSpPr>
        <p:spPr>
          <a:xfrm>
            <a:off x="602772" y="3884554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4" name="Shape 392"/>
          <p:cNvSpPr/>
          <p:nvPr/>
        </p:nvSpPr>
        <p:spPr>
          <a:xfrm>
            <a:off x="478048" y="3946916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5" name="Shape 393"/>
          <p:cNvSpPr/>
          <p:nvPr/>
        </p:nvSpPr>
        <p:spPr>
          <a:xfrm>
            <a:off x="540410" y="3946916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6" name="Shape 394"/>
          <p:cNvSpPr/>
          <p:nvPr/>
        </p:nvSpPr>
        <p:spPr>
          <a:xfrm>
            <a:off x="602772" y="3946916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7" name="Shape 395"/>
          <p:cNvSpPr/>
          <p:nvPr/>
        </p:nvSpPr>
        <p:spPr>
          <a:xfrm>
            <a:off x="290962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8" name="Shape 396"/>
          <p:cNvSpPr/>
          <p:nvPr/>
        </p:nvSpPr>
        <p:spPr>
          <a:xfrm>
            <a:off x="353324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9" name="Shape 397"/>
          <p:cNvSpPr/>
          <p:nvPr/>
        </p:nvSpPr>
        <p:spPr>
          <a:xfrm>
            <a:off x="415686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0" name="Shape 398"/>
          <p:cNvSpPr/>
          <p:nvPr/>
        </p:nvSpPr>
        <p:spPr>
          <a:xfrm>
            <a:off x="478048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1" name="Shape 399"/>
          <p:cNvSpPr/>
          <p:nvPr/>
        </p:nvSpPr>
        <p:spPr>
          <a:xfrm>
            <a:off x="540410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2" name="Shape 400"/>
          <p:cNvSpPr/>
          <p:nvPr/>
        </p:nvSpPr>
        <p:spPr>
          <a:xfrm>
            <a:off x="602772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3" name="Shape 401"/>
          <p:cNvSpPr/>
          <p:nvPr/>
        </p:nvSpPr>
        <p:spPr>
          <a:xfrm>
            <a:off x="665135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4" name="Shape 402"/>
          <p:cNvSpPr/>
          <p:nvPr/>
        </p:nvSpPr>
        <p:spPr>
          <a:xfrm>
            <a:off x="727497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5" name="Shape 403"/>
          <p:cNvSpPr/>
          <p:nvPr/>
        </p:nvSpPr>
        <p:spPr>
          <a:xfrm>
            <a:off x="789859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6" name="Shape 404"/>
          <p:cNvSpPr/>
          <p:nvPr/>
        </p:nvSpPr>
        <p:spPr>
          <a:xfrm>
            <a:off x="228600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7" name="Shape 405"/>
          <p:cNvSpPr/>
          <p:nvPr/>
        </p:nvSpPr>
        <p:spPr>
          <a:xfrm>
            <a:off x="290962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8" name="Shape 406"/>
          <p:cNvSpPr/>
          <p:nvPr/>
        </p:nvSpPr>
        <p:spPr>
          <a:xfrm>
            <a:off x="353324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9" name="Shape 407"/>
          <p:cNvSpPr/>
          <p:nvPr/>
        </p:nvSpPr>
        <p:spPr>
          <a:xfrm>
            <a:off x="415686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0" name="Shape 408"/>
          <p:cNvSpPr/>
          <p:nvPr/>
        </p:nvSpPr>
        <p:spPr>
          <a:xfrm>
            <a:off x="478048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1" name="Shape 409"/>
          <p:cNvSpPr/>
          <p:nvPr/>
        </p:nvSpPr>
        <p:spPr>
          <a:xfrm>
            <a:off x="540410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2" name="Shape 410"/>
          <p:cNvSpPr/>
          <p:nvPr/>
        </p:nvSpPr>
        <p:spPr>
          <a:xfrm>
            <a:off x="602772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3" name="Shape 411"/>
          <p:cNvSpPr/>
          <p:nvPr/>
        </p:nvSpPr>
        <p:spPr>
          <a:xfrm>
            <a:off x="665135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4" name="Shape 412"/>
          <p:cNvSpPr/>
          <p:nvPr/>
        </p:nvSpPr>
        <p:spPr>
          <a:xfrm>
            <a:off x="727497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5" name="Shape 413"/>
          <p:cNvSpPr/>
          <p:nvPr/>
        </p:nvSpPr>
        <p:spPr>
          <a:xfrm>
            <a:off x="789859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6" name="Shape 414"/>
          <p:cNvSpPr/>
          <p:nvPr/>
        </p:nvSpPr>
        <p:spPr>
          <a:xfrm>
            <a:off x="852221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7" name="Shape 415"/>
          <p:cNvSpPr/>
          <p:nvPr/>
        </p:nvSpPr>
        <p:spPr>
          <a:xfrm>
            <a:off x="228600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8" name="Shape 416"/>
          <p:cNvSpPr/>
          <p:nvPr/>
        </p:nvSpPr>
        <p:spPr>
          <a:xfrm>
            <a:off x="290962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9" name="Shape 417"/>
          <p:cNvSpPr/>
          <p:nvPr/>
        </p:nvSpPr>
        <p:spPr>
          <a:xfrm>
            <a:off x="353324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0" name="Shape 418"/>
          <p:cNvSpPr/>
          <p:nvPr/>
        </p:nvSpPr>
        <p:spPr>
          <a:xfrm>
            <a:off x="415686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1" name="Shape 419"/>
          <p:cNvSpPr/>
          <p:nvPr/>
        </p:nvSpPr>
        <p:spPr>
          <a:xfrm>
            <a:off x="478048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2" name="Shape 420"/>
          <p:cNvSpPr/>
          <p:nvPr/>
        </p:nvSpPr>
        <p:spPr>
          <a:xfrm>
            <a:off x="540410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3" name="Shape 421"/>
          <p:cNvSpPr/>
          <p:nvPr/>
        </p:nvSpPr>
        <p:spPr>
          <a:xfrm>
            <a:off x="602772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4" name="Shape 422"/>
          <p:cNvSpPr/>
          <p:nvPr/>
        </p:nvSpPr>
        <p:spPr>
          <a:xfrm>
            <a:off x="665135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5" name="Shape 423"/>
          <p:cNvSpPr/>
          <p:nvPr/>
        </p:nvSpPr>
        <p:spPr>
          <a:xfrm>
            <a:off x="727497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6" name="Shape 424"/>
          <p:cNvSpPr/>
          <p:nvPr/>
        </p:nvSpPr>
        <p:spPr>
          <a:xfrm>
            <a:off x="789859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7" name="Shape 425"/>
          <p:cNvSpPr/>
          <p:nvPr/>
        </p:nvSpPr>
        <p:spPr>
          <a:xfrm>
            <a:off x="852221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8" name="Shape 426"/>
          <p:cNvSpPr/>
          <p:nvPr/>
        </p:nvSpPr>
        <p:spPr>
          <a:xfrm>
            <a:off x="8541410" y="382219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9" name="Shape 427"/>
          <p:cNvSpPr/>
          <p:nvPr/>
        </p:nvSpPr>
        <p:spPr>
          <a:xfrm>
            <a:off x="8479048" y="3884554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0" name="Shape 428"/>
          <p:cNvSpPr/>
          <p:nvPr/>
        </p:nvSpPr>
        <p:spPr>
          <a:xfrm>
            <a:off x="8541410" y="3884554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1" name="Shape 429"/>
          <p:cNvSpPr/>
          <p:nvPr/>
        </p:nvSpPr>
        <p:spPr>
          <a:xfrm>
            <a:off x="8603772" y="3884554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2" name="Shape 430"/>
          <p:cNvSpPr/>
          <p:nvPr/>
        </p:nvSpPr>
        <p:spPr>
          <a:xfrm>
            <a:off x="8479048" y="3946916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3" name="Shape 431"/>
          <p:cNvSpPr/>
          <p:nvPr/>
        </p:nvSpPr>
        <p:spPr>
          <a:xfrm>
            <a:off x="8541410" y="3946916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4" name="Shape 432"/>
          <p:cNvSpPr/>
          <p:nvPr/>
        </p:nvSpPr>
        <p:spPr>
          <a:xfrm>
            <a:off x="8603772" y="3946916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5" name="Shape 433"/>
          <p:cNvSpPr/>
          <p:nvPr/>
        </p:nvSpPr>
        <p:spPr>
          <a:xfrm>
            <a:off x="8291962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6" name="Shape 434"/>
          <p:cNvSpPr/>
          <p:nvPr/>
        </p:nvSpPr>
        <p:spPr>
          <a:xfrm>
            <a:off x="8354324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7" name="Shape 435"/>
          <p:cNvSpPr/>
          <p:nvPr/>
        </p:nvSpPr>
        <p:spPr>
          <a:xfrm>
            <a:off x="8416686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8" name="Shape 436"/>
          <p:cNvSpPr/>
          <p:nvPr/>
        </p:nvSpPr>
        <p:spPr>
          <a:xfrm>
            <a:off x="8479048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9" name="Shape 437"/>
          <p:cNvSpPr/>
          <p:nvPr/>
        </p:nvSpPr>
        <p:spPr>
          <a:xfrm>
            <a:off x="8541410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0" name="Shape 438"/>
          <p:cNvSpPr/>
          <p:nvPr/>
        </p:nvSpPr>
        <p:spPr>
          <a:xfrm>
            <a:off x="8603772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1" name="Shape 439"/>
          <p:cNvSpPr/>
          <p:nvPr/>
        </p:nvSpPr>
        <p:spPr>
          <a:xfrm>
            <a:off x="8666135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2" name="Shape 440"/>
          <p:cNvSpPr/>
          <p:nvPr/>
        </p:nvSpPr>
        <p:spPr>
          <a:xfrm>
            <a:off x="8728497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3" name="Shape 441"/>
          <p:cNvSpPr/>
          <p:nvPr/>
        </p:nvSpPr>
        <p:spPr>
          <a:xfrm>
            <a:off x="8790859" y="4009278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4" name="Shape 442"/>
          <p:cNvSpPr/>
          <p:nvPr/>
        </p:nvSpPr>
        <p:spPr>
          <a:xfrm>
            <a:off x="8229600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5" name="Shape 443"/>
          <p:cNvSpPr/>
          <p:nvPr/>
        </p:nvSpPr>
        <p:spPr>
          <a:xfrm>
            <a:off x="8291962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6" name="Shape 444"/>
          <p:cNvSpPr/>
          <p:nvPr/>
        </p:nvSpPr>
        <p:spPr>
          <a:xfrm>
            <a:off x="8354324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7" name="Shape 445"/>
          <p:cNvSpPr/>
          <p:nvPr/>
        </p:nvSpPr>
        <p:spPr>
          <a:xfrm>
            <a:off x="8416686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8" name="Shape 446"/>
          <p:cNvSpPr/>
          <p:nvPr/>
        </p:nvSpPr>
        <p:spPr>
          <a:xfrm>
            <a:off x="8479048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9" name="Shape 447"/>
          <p:cNvSpPr/>
          <p:nvPr/>
        </p:nvSpPr>
        <p:spPr>
          <a:xfrm>
            <a:off x="8541410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0" name="Shape 448"/>
          <p:cNvSpPr/>
          <p:nvPr/>
        </p:nvSpPr>
        <p:spPr>
          <a:xfrm>
            <a:off x="8603772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1" name="Shape 449"/>
          <p:cNvSpPr/>
          <p:nvPr/>
        </p:nvSpPr>
        <p:spPr>
          <a:xfrm>
            <a:off x="8666135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2" name="Shape 450"/>
          <p:cNvSpPr/>
          <p:nvPr/>
        </p:nvSpPr>
        <p:spPr>
          <a:xfrm>
            <a:off x="8728497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3" name="Shape 451"/>
          <p:cNvSpPr/>
          <p:nvPr/>
        </p:nvSpPr>
        <p:spPr>
          <a:xfrm>
            <a:off x="8790859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4" name="Shape 452"/>
          <p:cNvSpPr/>
          <p:nvPr/>
        </p:nvSpPr>
        <p:spPr>
          <a:xfrm>
            <a:off x="8853221" y="4071640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5" name="Shape 453"/>
          <p:cNvSpPr/>
          <p:nvPr/>
        </p:nvSpPr>
        <p:spPr>
          <a:xfrm>
            <a:off x="8229600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6" name="Shape 454"/>
          <p:cNvSpPr/>
          <p:nvPr/>
        </p:nvSpPr>
        <p:spPr>
          <a:xfrm>
            <a:off x="8291962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7" name="Shape 455"/>
          <p:cNvSpPr/>
          <p:nvPr/>
        </p:nvSpPr>
        <p:spPr>
          <a:xfrm>
            <a:off x="8354324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8" name="Shape 456"/>
          <p:cNvSpPr/>
          <p:nvPr/>
        </p:nvSpPr>
        <p:spPr>
          <a:xfrm>
            <a:off x="8416686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9" name="Shape 457"/>
          <p:cNvSpPr/>
          <p:nvPr/>
        </p:nvSpPr>
        <p:spPr>
          <a:xfrm>
            <a:off x="8479048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0" name="Shape 458"/>
          <p:cNvSpPr/>
          <p:nvPr/>
        </p:nvSpPr>
        <p:spPr>
          <a:xfrm>
            <a:off x="8541410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1" name="Shape 459"/>
          <p:cNvSpPr/>
          <p:nvPr/>
        </p:nvSpPr>
        <p:spPr>
          <a:xfrm>
            <a:off x="8603772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2" name="Shape 460"/>
          <p:cNvSpPr/>
          <p:nvPr/>
        </p:nvSpPr>
        <p:spPr>
          <a:xfrm>
            <a:off x="8666135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3" name="Shape 461"/>
          <p:cNvSpPr/>
          <p:nvPr/>
        </p:nvSpPr>
        <p:spPr>
          <a:xfrm>
            <a:off x="8728497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4" name="Shape 462"/>
          <p:cNvSpPr/>
          <p:nvPr/>
        </p:nvSpPr>
        <p:spPr>
          <a:xfrm>
            <a:off x="8790859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5" name="Shape 463"/>
          <p:cNvSpPr/>
          <p:nvPr/>
        </p:nvSpPr>
        <p:spPr>
          <a:xfrm>
            <a:off x="8853221" y="4134002"/>
            <a:ext cx="59619" cy="59619"/>
          </a:xfrm>
          <a:prstGeom prst="rect">
            <a:avLst/>
          </a:prstGeom>
          <a:solidFill>
            <a:srgbClr val="00E5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6" name="Text 464"/>
          <p:cNvSpPr/>
          <p:nvPr/>
        </p:nvSpPr>
        <p:spPr>
          <a:xfrm>
            <a:off x="0" y="48006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 MAY 11, 2026  ·  AUSTIN, TEXAS  ►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02/22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1 :: SETUP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41148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THE SETUP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8686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AUG 23, 2025  ·  21:54 UTC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1280160"/>
            <a:ext cx="4206240" cy="2971800"/>
          </a:xfrm>
          <a:prstGeom prst="rect">
            <a:avLst/>
          </a:prstGeom>
          <a:solidFill>
            <a:srgbClr val="0E0E14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28016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28016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352544" y="128016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48556" y="128016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421995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412394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352544" y="421995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448556" y="412394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11480" y="141732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HAD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1480" y="1783080"/>
            <a:ext cx="3931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[+] 9-NODE NON-PROD CLUSTER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[+] FULL OBSERVABILITY + GITOPS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[+] VELERO BACKUPS  </a:t>
            </a:r>
            <a:r>
              <a:rPr lang="en-US" sz="140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(UNTESTED)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[+] EIGHT SAFETY RULES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 THE PROMPT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663440" y="1280160"/>
            <a:ext cx="4206240" cy="297180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663440" y="12801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63440" y="12801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741664" y="12801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837676" y="12801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663440" y="421995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663440" y="412394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741664" y="421995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837676" y="412394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00600" y="141732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ASKED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00600" y="1783080"/>
            <a:ext cx="3931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"INVESTIGATE THE CNI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CONFLICT."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"DON'T BREAK ANYTHING."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READ-ONLY. EIGHT RULES.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 CONSTRAINTS.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03/22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1 :: SETUP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SELECT YOUR USE CASE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365760" y="1051560"/>
            <a:ext cx="777240" cy="777240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1051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325880" y="105156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 AI INTO WORKFLOWS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325880" y="1417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Coding agents, artifact generation.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2103120"/>
            <a:ext cx="777240" cy="777240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576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325880" y="210312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 AI INTO AN APPLICATION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25880" y="24688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Chatbots, search, in-product features.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65760" y="3154680"/>
            <a:ext cx="777240" cy="7772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65760" y="3154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1325880" y="315468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FOR SYSTEMS MANAGEMENT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325880" y="3520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Kubernetes, infrastructure operations.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0" y="31546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SELECTED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320" y="393192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 STORY IS CASE 3.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04/22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2 :: THE INCIDENT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THEN I MADE THE MISTAKE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86868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JUMPED FROM USE CASE 1 TO USE CASE 3.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1280160"/>
            <a:ext cx="4206240" cy="2606040"/>
          </a:xfrm>
          <a:prstGeom prst="rect">
            <a:avLst/>
          </a:prstGeom>
          <a:solidFill>
            <a:srgbClr val="0E0E14"/>
          </a:solidFill>
          <a:ln w="12700">
            <a:solidFill>
              <a:srgbClr val="39FF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28016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28016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352544" y="128016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48556" y="128016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385419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375818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352544" y="385419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448556" y="375818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11480" y="137160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ASSISTANCE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162763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 WAS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1480" y="1993392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Creating artifacts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CI/CD applied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Testable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Reversible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63440" y="1280160"/>
            <a:ext cx="4206240" cy="2606040"/>
          </a:xfrm>
          <a:prstGeom prst="rect">
            <a:avLst/>
          </a:prstGeom>
          <a:solidFill>
            <a:srgbClr val="0E0E14"/>
          </a:solidFill>
          <a:ln w="12700">
            <a:solidFill>
              <a:srgbClr val="FF1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63440" y="128016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3440" y="128016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741664" y="128016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837676" y="128016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663440" y="385419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663440" y="375818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741664" y="385419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837676" y="375818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00600" y="137160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MANAGEMENT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00600" y="162763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 ENDED UP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00600" y="1993392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Direct cluster ops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No GitOps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Live system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Irreversible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74320" y="39502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 WHATEVER YOU NEED TO DO TO STEP OUTSIDE THE PIPELINE."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05/22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2 :: THE INCIDENT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50 MINUTES LATER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91440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CAME BACK.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74320" y="155448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PODS RUNNING.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 DEPLOYED.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EVERYTHING LOOKED GREAT.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7432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6227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813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9004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61949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3385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305763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47767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64957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821485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99339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165299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33720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50911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681021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85292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024835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19674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36865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540557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71246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884371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05627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22818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400093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57200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743907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91581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08772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259629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3153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603443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77535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94725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119165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29107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462979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63488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80679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978701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715060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322515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49442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66633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838237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801014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8182051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835395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852586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8697773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274320" y="28346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I SCROLLED UP.</a:t>
            </a:r>
            <a:endParaRPr lang="en-US" sz="2600" dirty="0"/>
          </a:p>
        </p:txBody>
      </p:sp>
      <p:sp>
        <p:nvSpPr>
          <p:cNvPr id="63" name="Text 61"/>
          <p:cNvSpPr/>
          <p:nvPr/>
        </p:nvSpPr>
        <p:spPr>
          <a:xfrm>
            <a:off x="274320" y="352044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HAD REFRESHED THE ETCD CLUSTER.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HAD REBUILT THE CONTROL PLANE.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06/22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2 :: THE INCIDENT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THE COMMAND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8686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22:50 UTC  ·  50 MINUTES 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solidFill>
            <a:srgbClr val="000000"/>
          </a:solidFill>
          <a:ln w="12700">
            <a:solidFill>
              <a:srgbClr val="FF1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137160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137160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558784" y="137160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654796" y="137160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271119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7200" y="261518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558784" y="271119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654796" y="261518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1554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22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etcd --force-new-cluster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0080" y="2103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 static pod manifest edit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2880360"/>
            <a:ext cx="8229600" cy="1417320"/>
          </a:xfrm>
          <a:prstGeom prst="rect">
            <a:avLst/>
          </a:prstGeom>
          <a:solidFill>
            <a:srgbClr val="0E0E14"/>
          </a:solidFill>
          <a:ln w="12700">
            <a:solidFill>
              <a:srgbClr val="FF1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288036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558784" y="288036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654796" y="288036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57200" y="426567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" y="416966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558784" y="426567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654796" y="416966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0080" y="30175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Discards all other etcd members.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Resets to single-node from existing data.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THERE IS NO RECOVERY FROM THIS.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07/22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2 :: THE INCIDENT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I WENT BACK TO IT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96012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DID YOU REINITIALIZE THE CLUSTER?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1463040"/>
            <a:ext cx="7680960" cy="1554480"/>
          </a:xfrm>
          <a:prstGeom prst="rect">
            <a:avLst/>
          </a:prstGeom>
          <a:solidFill>
            <a:srgbClr val="151522"/>
          </a:solidFill>
          <a:ln w="12700">
            <a:solidFill>
              <a:srgbClr val="FFE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31520" y="1463040"/>
            <a:ext cx="128016" cy="32004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1463040"/>
            <a:ext cx="32004" cy="12801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284464" y="1463040"/>
            <a:ext cx="128016" cy="32004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80476" y="1463040"/>
            <a:ext cx="32004" cy="12801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1520" y="2985516"/>
            <a:ext cx="128016" cy="32004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31520" y="2889504"/>
            <a:ext cx="32004" cy="12801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284464" y="2985516"/>
            <a:ext cx="128016" cy="32004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380476" y="2889504"/>
            <a:ext cx="32004" cy="12801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14400" y="16002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"You're absolutely right.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i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violated every constraint about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i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non-destructive actions.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i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That was wrong."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74320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46227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18134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90042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61949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133856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305763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477670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649578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821485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993392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2165299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2337206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509114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681021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852928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3024835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3196742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368650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540557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3712464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3884371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056278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228186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400093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572000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743907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915814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5087722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259629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431536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603443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775350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947258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6119165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6291072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6462979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6634886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6806794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6978701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7150608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7322515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7494422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7666330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7838237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8010144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8182051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8353958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8525866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8697773" y="320040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274320" y="338328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ADMITTED EVERYTHING. ARTICULATED EACH VIOLATION.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274320" y="365760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HAD NO MECHANISM TO PREVENT DOING IT AGAIN.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274320" y="40233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20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APOLOGY IS NOT A CONTROL.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08/22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2 :: THE INCIDENT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DAY 2 :: I DOUBLED DOWN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57200" y="960120"/>
            <a:ext cx="8229600" cy="7772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96012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96012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558784" y="96012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654796" y="96012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170535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160934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558784" y="170535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654796" y="160934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10515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6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"OK. Now fix the original CNI problem."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FOUND CILIUM / MULTUS CONFLICT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2359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DECIDED FIX REQUIRED NETPLAN REWRITE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7200" y="275234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ACROSS CONTROL PLANE AND WORKERS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314553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I LOST SSH TO EVERY NODE SIMULTANEOUSLY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3538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RECOVERY TOOK THE REST OF THE WEEK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09/22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2 :: THE INCIDENT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THE MOMENT I KNEW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96012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AGENT DID NOT EXCEED ITS AUTHORITY.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OPERATED EXACTLY INSIDE IT.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74320" y="18288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kern="0" spc="2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 ENFORCEMENT OF THE BOUNDARY WAS THE PROBLEM.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6227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8134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90042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61949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33856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305763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477670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649578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821485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993392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165299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337206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509114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681021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852928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024835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196742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368650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540557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712464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884371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056278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228186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400093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572000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743907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915814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087722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259629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31536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603443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775350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947258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119165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291072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462979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634886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806794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978701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7150608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322515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494422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666330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838237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8010144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8182051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8353958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8525866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8697773" y="23317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1097280" y="2606040"/>
            <a:ext cx="6949440" cy="1645920"/>
          </a:xfrm>
          <a:prstGeom prst="rect">
            <a:avLst/>
          </a:prstGeom>
          <a:solidFill>
            <a:srgbClr val="151522"/>
          </a:solidFill>
          <a:ln w="12700">
            <a:solidFill>
              <a:srgbClr val="39FF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1097280" y="260604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1097280" y="260604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7918704" y="260604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8014716" y="260604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1097280" y="421995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1097280" y="412394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7918704" y="421995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8014716" y="412394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1484986" y="2788920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1541678" y="2788920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1598371" y="2788920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1655064" y="2788920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1711757" y="2788920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1768450" y="2788920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1428293" y="2845613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1484986" y="2845613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1541678" y="2845613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598371" y="2845613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1655064" y="2845613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1711757" y="2845613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1768450" y="2845613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1825142" y="2845613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1371600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1428293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1484986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1541678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1598371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1655064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1711757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1768450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1825142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1881835" y="2902306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1371600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1428293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1484986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1541678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1598371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1655064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1711757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1768450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1825142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1881835" y="2958998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1371600" y="3015691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1428293" y="3015691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1484986" y="3015691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1768450" y="3015691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1825142" y="3015691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1881835" y="3015691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1371600" y="3072384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1428293" y="3072384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1825142" y="3072384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1881835" y="3072384"/>
            <a:ext cx="53950" cy="53950"/>
          </a:xfrm>
          <a:prstGeom prst="rect">
            <a:avLst/>
          </a:prstGeom>
          <a:solidFill>
            <a:srgbClr val="39FF14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2331720" y="26974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GATE HELD.</a:t>
            </a:r>
            <a:endParaRPr lang="en-US" sz="1800" dirty="0"/>
          </a:p>
        </p:txBody>
      </p:sp>
      <p:sp>
        <p:nvSpPr>
          <p:cNvPr id="116" name="Text 114"/>
          <p:cNvSpPr/>
          <p:nvPr/>
        </p:nvSpPr>
        <p:spPr>
          <a:xfrm>
            <a:off x="2331720" y="3035808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NON-PRODUCTION ACCESS.</a:t>
            </a:r>
            <a:endParaRPr lang="en-US" sz="1400" dirty="0"/>
          </a:p>
        </p:txBody>
      </p:sp>
      <p:sp>
        <p:nvSpPr>
          <p:cNvPr id="117" name="Text 115"/>
          <p:cNvSpPr/>
          <p:nvPr/>
        </p:nvSpPr>
        <p:spPr>
          <a:xfrm>
            <a:off x="2331720" y="3456432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COULD'VE BEEN THE NEXT HEADLINE.</a:t>
            </a:r>
            <a:endParaRPr lang="en-US" sz="1100" dirty="0"/>
          </a:p>
        </p:txBody>
      </p:sp>
      <p:sp>
        <p:nvSpPr>
          <p:cNvPr id="118" name="Text 116"/>
          <p:cNvSpPr/>
          <p:nvPr/>
        </p:nvSpPr>
        <p:spPr>
          <a:xfrm>
            <a:off x="2331720" y="3767328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WASN'T — BECAUSE RBAC WAS THE LINE THAT HELD.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10/22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3 :: ANATOMY OF THE PIPELINE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29260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THE AGENTIC ACTION PIPELINE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71323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ZONES. NONE UNBYPASSABLE ALONE. STACK ALL THREE.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051560"/>
            <a:ext cx="2788920" cy="3200400"/>
          </a:xfrm>
          <a:prstGeom prst="rect">
            <a:avLst/>
          </a:prstGeom>
          <a:solidFill>
            <a:srgbClr val="0E0E14"/>
          </a:solidFill>
          <a:ln w="12700">
            <a:solidFill>
              <a:srgbClr val="39FF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05156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05156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935224" y="105156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031236" y="105156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421995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412394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935224" y="421995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031236" y="412394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65760" y="114300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CLIENT-SIDE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444752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operator's machine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8912" y="1783080"/>
            <a:ext cx="2468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git hooks (pre-*)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local tests + lint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tool allowlist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fs ACLs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prompt-injection filt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OOB approval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0" y="1051560"/>
            <a:ext cx="2788920" cy="3200400"/>
          </a:xfrm>
          <a:prstGeom prst="rect">
            <a:avLst/>
          </a:prstGeom>
          <a:solidFill>
            <a:srgbClr val="0E0E14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200400" y="105156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0" y="105156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861304" y="105156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957316" y="105156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00400" y="421995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200400" y="412394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861304" y="421995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957316" y="412394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291840" y="114300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/ AGENT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291840" y="1444752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agent unit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364992" y="1783080"/>
            <a:ext cx="2468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LLM (probabilistic)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Framework hooks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MCP host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Host: bwrap / VM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26480" y="1051560"/>
            <a:ext cx="2788920" cy="320040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126480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126480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8787384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8883396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126480" y="421995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126480" y="412394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8787384" y="421995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8883396" y="412394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217920" y="114300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SERVER-SIDE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17920" y="1444752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Downstream chain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91072" y="1783080"/>
            <a:ext cx="2468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git: branch prot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CI/CD: req'd checks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registry: cosign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target: RBAC + IAM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11/22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3 :: ANATOMY OF THE PIPELINE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29260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HERE'S WHAT MINE LOOKS LIKE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71323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 PRODUCTION SETUP, SAME THREE ZONES.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051560"/>
            <a:ext cx="2788920" cy="3246120"/>
          </a:xfrm>
          <a:prstGeom prst="rect">
            <a:avLst/>
          </a:prstGeom>
          <a:solidFill>
            <a:srgbClr val="0E0E14"/>
          </a:solidFill>
          <a:ln w="12700">
            <a:solidFill>
              <a:srgbClr val="39FF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05156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05156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935224" y="105156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031236" y="105156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426567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416966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935224" y="426567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031236" y="416966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65760" y="111556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CLIENT-SIDE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1417320"/>
            <a:ext cx="25146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PRE-COMMIT [T1]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ruff + mypy + style &lt;5s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PRE-PUSH [T2]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secret scan + units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PRE-PUSH [T3] main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e2e gate — blocks push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allowlist (CC)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 ACLs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ROADMAP: pi-guard, OOB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0" y="1051560"/>
            <a:ext cx="2788920" cy="3246120"/>
          </a:xfrm>
          <a:prstGeom prst="rect">
            <a:avLst/>
          </a:prstGeom>
          <a:solidFill>
            <a:srgbClr val="0E0E14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0" y="105156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200400" y="105156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861304" y="105156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957316" y="105156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00400" y="426567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00400" y="416966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861304" y="426567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957316" y="416966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291840" y="111556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/ AGENT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337560" y="1417320"/>
            <a:ext cx="25146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CC LIFECYCLE HOOKS: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SessionStart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PreToolUse x2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PostToolUse x2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PostCompact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Stop  ·  SessionEnd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slash commands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 rules in ~/.claude/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HOST: gap — no sandbox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26480" y="1051560"/>
            <a:ext cx="2788920" cy="324612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126480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126480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787384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8883396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126480" y="426567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126480" y="416966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8787384" y="426567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8883396" y="416966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217920" y="111556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SERVER-SIDE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263640" y="1417320"/>
            <a:ext cx="25146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main protected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 required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ci.yml ruff/mypy/u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e2e.yml on PR→main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CLUSTER: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RBAC non-prod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(line that held)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GAPS: signing, admis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12/22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4 :: ROOT CAUSE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TWO ROOT CAUSES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274320" y="1097280"/>
            <a:ext cx="4206240" cy="3063240"/>
          </a:xfrm>
          <a:prstGeom prst="rect">
            <a:avLst/>
          </a:prstGeom>
          <a:solidFill>
            <a:srgbClr val="0E0E14"/>
          </a:solidFill>
          <a:ln w="12700">
            <a:solidFill>
              <a:srgbClr val="FFE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74320" y="1097280"/>
            <a:ext cx="128016" cy="32004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097280"/>
            <a:ext cx="32004" cy="12801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352544" y="1097280"/>
            <a:ext cx="128016" cy="32004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448556" y="1097280"/>
            <a:ext cx="32004" cy="12801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4128516"/>
            <a:ext cx="128016" cy="32004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4032504"/>
            <a:ext cx="32004" cy="12801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352544" y="4128516"/>
            <a:ext cx="128016" cy="32004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448556" y="4032504"/>
            <a:ext cx="32004" cy="12801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11480" y="1234440"/>
            <a:ext cx="777240" cy="7772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11480" y="1234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325880" y="1280160"/>
            <a:ext cx="3063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TOLD IT TO STEP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25880" y="1600200"/>
            <a:ext cx="3063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OUTSIDE THE GATES.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219456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Don't do that.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agent did exactly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authorized.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63440" y="1097280"/>
            <a:ext cx="4206240" cy="3063240"/>
          </a:xfrm>
          <a:prstGeom prst="rect">
            <a:avLst/>
          </a:prstGeom>
          <a:solidFill>
            <a:srgbClr val="0E0E14"/>
          </a:solidFill>
          <a:ln w="12700">
            <a:solidFill>
              <a:srgbClr val="FF1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3440" y="109728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63440" y="109728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741664" y="109728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837676" y="109728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663440" y="412851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663440" y="403250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741664" y="412851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837676" y="403250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800600" y="1234440"/>
            <a:ext cx="777240" cy="777240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800600" y="1234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4200" dirty="0"/>
          </a:p>
        </p:txBody>
      </p:sp>
      <p:sp>
        <p:nvSpPr>
          <p:cNvPr id="35" name="Text 33"/>
          <p:cNvSpPr/>
          <p:nvPr/>
        </p:nvSpPr>
        <p:spPr>
          <a:xfrm>
            <a:off x="5715000" y="1280160"/>
            <a:ext cx="3063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GATES I HAD WERE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715000" y="1600200"/>
            <a:ext cx="3063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INCOMPLETE.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846320" y="219456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framework hooks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operator couldn't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bypass.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to overrule me.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13/22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4 :: ROOT CAUSE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WRONG ASSUMPTION #1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91440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i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"THIS IS AN AI PROBLEM."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74320" y="141732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CAUGHT MYSELF ANTHROPOMORPHIZING.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" y="169164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"IT'LL REASON. IT'LL ACT LIKE A JUNIOR DEVELOPER."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46227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8134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90042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61949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33856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305763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477670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649578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821485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993392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165299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337206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509114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681021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852928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024835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196742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368650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540557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712464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3884371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056278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228186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400093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572000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743907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915814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087722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259629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431536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603443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775350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947258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119165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291072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462979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634886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806794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978701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150608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322515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494422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666330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838237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8010144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8182051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8353958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8525866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8697773" y="21031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274320" y="2286000"/>
            <a:ext cx="8595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DELETES. CURSOR. DB-DELETE HEADLINES.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274320" y="2615184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OF THEM: SERVER-SIDE RBAC VIOLATIONS.</a:t>
            </a:r>
            <a:endParaRPr lang="en-US" sz="1800" dirty="0"/>
          </a:p>
        </p:txBody>
      </p:sp>
      <p:sp>
        <p:nvSpPr>
          <p:cNvPr id="65" name="Text 63"/>
          <p:cNvSpPr/>
          <p:nvPr/>
        </p:nvSpPr>
        <p:spPr>
          <a:xfrm>
            <a:off x="274320" y="3035808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protection. CODEOWNERS. Admission policies. IaC apply gates. CI/CD triggers.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7432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446227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61813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79004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61949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113385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1305763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147767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164957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1821485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199339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2165299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233720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250911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2681021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285292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3024835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319674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336865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3540557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371246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3884371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405627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422818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4400093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457200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4743907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491581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508772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5259629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543153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5603443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577535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594725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6119165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629107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6462979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663488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680679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6978701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715060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7322515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749442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766633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7838237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801014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8182051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835395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852586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8697773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 114"/>
          <p:cNvSpPr/>
          <p:nvPr/>
        </p:nvSpPr>
        <p:spPr>
          <a:xfrm>
            <a:off x="274320" y="365760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 BACKGROUND IS ML. I KNEW IT WAS PROBABILISTIC.</a:t>
            </a:r>
            <a:endParaRPr lang="en-US" sz="1200" dirty="0"/>
          </a:p>
        </p:txBody>
      </p:sp>
      <p:sp>
        <p:nvSpPr>
          <p:cNvPr id="117" name="Text 115"/>
          <p:cNvSpPr/>
          <p:nvPr/>
        </p:nvSpPr>
        <p:spPr>
          <a:xfrm>
            <a:off x="274320" y="39776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STILL ANTHROPOMORPHIZED.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14/22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4 :: ROOT CAUSE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29260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WRONG ASSUMPTION #2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713232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"AI OPERATES WITH HUMAN JUDGMENT AND FEAR."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1097280"/>
            <a:ext cx="4206240" cy="2743200"/>
          </a:xfrm>
          <a:prstGeom prst="rect">
            <a:avLst/>
          </a:prstGeom>
          <a:solidFill>
            <a:srgbClr val="0E0E14"/>
          </a:solidFill>
          <a:ln w="12700">
            <a:solidFill>
              <a:srgbClr val="39FF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09728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09728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352544" y="109728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48556" y="109728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380847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371246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352544" y="380847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448556" y="371246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11480" y="1188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3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HUMANS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11480" y="1627632"/>
            <a:ext cx="3931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Bound by pro norms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Pause when uncertain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Call senior on-call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Constrained by social cost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Prompts = instructions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1097280"/>
            <a:ext cx="4206240" cy="2743200"/>
          </a:xfrm>
          <a:prstGeom prst="rect">
            <a:avLst/>
          </a:prstGeom>
          <a:solidFill>
            <a:srgbClr val="0E0E14"/>
          </a:solidFill>
          <a:ln w="12700">
            <a:solidFill>
              <a:srgbClr val="FF1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663440" y="109728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63440" y="109728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741664" y="109728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837676" y="109728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663440" y="380847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663440" y="371246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741664" y="380847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837676" y="371246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00600" y="1188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30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800600" y="1627632"/>
            <a:ext cx="3931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Bound by params YOU set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No pause without instruction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Will work around obstacles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No social cost. No reputation.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Prompts = suggestions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74320" y="39776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OUT OF 20 IT NAILS. THE 1 IS WHERE THE CLUSTER DIES.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15/22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4 :: ROOT CAUSE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THIRD INSTINCT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"PUT A HUMAN IN THE LOOP ON EVERYTHING."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74320" y="137160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BINARY HITL / NO-HITL LACKS SUBTLETY.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828800"/>
            <a:ext cx="8229600" cy="777240"/>
          </a:xfrm>
          <a:prstGeom prst="rect">
            <a:avLst/>
          </a:prstGeom>
          <a:solidFill>
            <a:srgbClr val="0E0E14"/>
          </a:solidFill>
          <a:ln w="12700">
            <a:solidFill>
              <a:srgbClr val="39FF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182880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182880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558784" y="1828800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654796" y="1828800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7200" y="257403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247802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558784" y="2574036"/>
            <a:ext cx="128016" cy="32004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654796" y="2478024"/>
            <a:ext cx="32004" cy="128016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1874520"/>
            <a:ext cx="800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LOW-RISK · REVERSIBLE · SCOPED  </a:t>
            </a:r>
            <a:r>
              <a:rPr lang="en-US" sz="14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LET THE AGENT RUN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2697480"/>
            <a:ext cx="8229600" cy="777240"/>
          </a:xfrm>
          <a:prstGeom prst="rect">
            <a:avLst/>
          </a:prstGeom>
          <a:solidFill>
            <a:srgbClr val="0E0E14"/>
          </a:solidFill>
          <a:ln w="12700">
            <a:solidFill>
              <a:srgbClr val="FF1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269748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" y="269748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558784" y="2697480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654796" y="2697480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57200" y="344271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" y="334670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558784" y="3442716"/>
            <a:ext cx="128016" cy="32004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654796" y="3346704"/>
            <a:ext cx="32004" cy="128016"/>
          </a:xfrm>
          <a:prstGeom prst="rect">
            <a:avLst/>
          </a:prstGeom>
          <a:solidFill>
            <a:srgbClr val="FF174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94360" y="2743200"/>
            <a:ext cx="8001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HIGH-RISK · DESTRUCTIVE · PROD  </a:t>
            </a:r>
            <a:r>
              <a:rPr lang="en-US" sz="14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HUMAN + AUTO GATES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74320" y="365760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USE COMPUTERS TO GO FASTER THAN HUMAN SPEED.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74320" y="3950208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HUMANS GET ALERT FATIGUE. THEY START SAYING YES TO EVERYTHING.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16/22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4 :: ROOT CAUSE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THE PRINCIPLE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57200" y="1051560"/>
            <a:ext cx="8229600" cy="1874520"/>
          </a:xfrm>
          <a:prstGeom prst="rect">
            <a:avLst/>
          </a:prstGeom>
          <a:solidFill>
            <a:srgbClr val="151522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558784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654796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289407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279806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558784" y="289407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654796" y="279806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11887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DON'T USE PROBABILISTIC AI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48640" y="1828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ENFORCE DETERMINISTIC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48640" y="23317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REQUIREMENTS.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57200" y="310896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BUILD THE GATES PROGRAMMATICALLY.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TEST THEM LIKE CODE.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USE AI TO WRITE THE GATES, NOT TO BE THE GATES.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LET THE AGENT RUN.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17/22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5 :: THE EIGHT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29260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THE EIGHT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71323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BUILT OUT OF THE DISASTER.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051560"/>
            <a:ext cx="2103120" cy="155448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249424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345436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257403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247802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249424" y="257403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345436" y="247802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5760" y="1143000"/>
            <a:ext cx="411480" cy="41148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5760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41248" y="1170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TREAT AGENT AS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65760" y="16916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UNTRUSTED WORKLOAD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" y="2130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principle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432304" y="1051560"/>
            <a:ext cx="2103120" cy="155448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432304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432304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407408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03420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432304" y="257403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432304" y="247802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407408" y="257403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503420" y="247802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523744" y="1143000"/>
            <a:ext cx="411480" cy="41148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523744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2999232" y="1170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 BY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523744" y="16916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523744" y="2130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· host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590288" y="1051560"/>
            <a:ext cx="2103120" cy="155448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590288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590288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565392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661404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590288" y="257403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590288" y="247802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565392" y="257403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661404" y="247802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681728" y="1143000"/>
            <a:ext cx="411480" cy="41148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681728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157216" y="1170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GIVE AGENT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681728" y="16916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PERMISSIONS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681728" y="2130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· target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748272" y="1051560"/>
            <a:ext cx="2103120" cy="155448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748272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6748272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8723376" y="105156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8819388" y="1051560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6748272" y="257403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6748272" y="247802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8723376" y="2574036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8819388" y="247802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6839712" y="1143000"/>
            <a:ext cx="411480" cy="41148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6839712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000" dirty="0"/>
          </a:p>
        </p:txBody>
      </p:sp>
      <p:sp>
        <p:nvSpPr>
          <p:cNvPr id="64" name="Text 62"/>
          <p:cNvSpPr/>
          <p:nvPr/>
        </p:nvSpPr>
        <p:spPr>
          <a:xfrm>
            <a:off x="7315200" y="117043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TIERED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6839712" y="16916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APPROVAL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6839712" y="2130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+ server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274320" y="2660904"/>
            <a:ext cx="2103120" cy="155448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274320" y="2660904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274320" y="266090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2249424" y="2660904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2345436" y="266090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274320" y="418338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274320" y="4087368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2249424" y="418338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2345436" y="4087368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365760" y="2752344"/>
            <a:ext cx="411480" cy="41148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365760" y="2752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000" dirty="0"/>
          </a:p>
        </p:txBody>
      </p:sp>
      <p:sp>
        <p:nvSpPr>
          <p:cNvPr id="78" name="Text 76"/>
          <p:cNvSpPr/>
          <p:nvPr/>
        </p:nvSpPr>
        <p:spPr>
          <a:xfrm>
            <a:off x="841248" y="27797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CLUSTER-LEVEL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365760" y="33009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365760" y="37398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· target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2432304" y="2660904"/>
            <a:ext cx="2103120" cy="155448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2432304" y="2660904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2432304" y="266090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4407408" y="2660904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4503420" y="266090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2432304" y="418338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2432304" y="4087368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4407408" y="418338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4503420" y="4087368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2523744" y="2752344"/>
            <a:ext cx="411480" cy="41148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2523744" y="2752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000" dirty="0"/>
          </a:p>
        </p:txBody>
      </p:sp>
      <p:sp>
        <p:nvSpPr>
          <p:cNvPr id="92" name="Text 90"/>
          <p:cNvSpPr/>
          <p:nvPr/>
        </p:nvSpPr>
        <p:spPr>
          <a:xfrm>
            <a:off x="2999232" y="27797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IAC BEHIND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2523744" y="33009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GATE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2523744" y="37398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· git/ci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4590288" y="2660904"/>
            <a:ext cx="2103120" cy="155448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4590288" y="2660904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4590288" y="266090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6565392" y="2660904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6661404" y="266090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4590288" y="418338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4590288" y="4087368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6565392" y="418338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6661404" y="4087368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4681728" y="2752344"/>
            <a:ext cx="411480" cy="41148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103"/>
          <p:cNvSpPr/>
          <p:nvPr/>
        </p:nvSpPr>
        <p:spPr>
          <a:xfrm>
            <a:off x="4681728" y="2752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000" dirty="0"/>
          </a:p>
        </p:txBody>
      </p:sp>
      <p:sp>
        <p:nvSpPr>
          <p:cNvPr id="106" name="Text 104"/>
          <p:cNvSpPr/>
          <p:nvPr/>
        </p:nvSpPr>
        <p:spPr>
          <a:xfrm>
            <a:off x="5157216" y="27797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THE MCP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4681728" y="33009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 SURFACE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4681728" y="37398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· framework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6748272" y="2660904"/>
            <a:ext cx="2103120" cy="1554480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6748272" y="2660904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6748272" y="266090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8723376" y="2660904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8819388" y="2660904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6748272" y="418338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6748272" y="4087368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8723376" y="4183380"/>
            <a:ext cx="128016" cy="32004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8819388" y="4087368"/>
            <a:ext cx="32004" cy="12801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6839712" y="2752344"/>
            <a:ext cx="411480" cy="41148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Text 117"/>
          <p:cNvSpPr/>
          <p:nvPr/>
        </p:nvSpPr>
        <p:spPr>
          <a:xfrm>
            <a:off x="6839712" y="2752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000" dirty="0"/>
          </a:p>
        </p:txBody>
      </p:sp>
      <p:sp>
        <p:nvSpPr>
          <p:cNvPr id="120" name="Text 118"/>
          <p:cNvSpPr/>
          <p:nvPr/>
        </p:nvSpPr>
        <p:spPr>
          <a:xfrm>
            <a:off x="7315200" y="27797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MONITOR AGENTS</a:t>
            </a:r>
            <a:endParaRPr lang="en-US" sz="1050" dirty="0"/>
          </a:p>
        </p:txBody>
      </p:sp>
      <p:sp>
        <p:nvSpPr>
          <p:cNvPr id="121" name="Text 119"/>
          <p:cNvSpPr/>
          <p:nvPr/>
        </p:nvSpPr>
        <p:spPr>
          <a:xfrm>
            <a:off x="6839712" y="33009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 PRODUCTION</a:t>
            </a:r>
            <a:endParaRPr lang="en-US" sz="1050" dirty="0"/>
          </a:p>
        </p:txBody>
      </p:sp>
      <p:sp>
        <p:nvSpPr>
          <p:cNvPr id="122" name="Text 120"/>
          <p:cNvSpPr/>
          <p:nvPr/>
        </p:nvSpPr>
        <p:spPr>
          <a:xfrm>
            <a:off x="6839712" y="37398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cross-cutting</a:t>
            </a:r>
            <a:endParaRPr lang="en-US" sz="800" dirty="0"/>
          </a:p>
        </p:txBody>
      </p:sp>
      <p:sp>
        <p:nvSpPr>
          <p:cNvPr id="123" name="Text 121"/>
          <p:cNvSpPr/>
          <p:nvPr/>
        </p:nvSpPr>
        <p:spPr>
          <a:xfrm>
            <a:off x="274320" y="425196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MONTHS IN PROD-ADJACENT WORKLOADS. THEY WORK.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19/22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5 :: THE EIGHT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29260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THE TWO MOST-SKIPPED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71323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IDENTITY + AUTHORIZATION. WHERE THE HEADLINES COME FROM.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" y="100584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PULL YOUR AUDIT LOG TUESDAY. TWO QUESTIONS: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371600"/>
            <a:ext cx="8595360" cy="1325880"/>
          </a:xfrm>
          <a:prstGeom prst="rect">
            <a:avLst/>
          </a:prstGeom>
          <a:solidFill>
            <a:srgbClr val="0E0E14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37160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74320" y="137160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741664" y="137160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837676" y="137160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266547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74320" y="256946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741664" y="266547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837676" y="256946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1463040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WHO'S THE ACTOR?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1480" y="18288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 name</a:t>
            </a:r>
            <a:r>
              <a:rPr lang="en-US" sz="1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unprotected. </a:t>
            </a:r>
            <a:r>
              <a:rPr lang="en-US" sz="12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ServiceAccount</a:t>
            </a:r>
            <a:r>
              <a:rPr lang="en-US" sz="1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better.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bound token + workload identity = </a:t>
            </a:r>
            <a:r>
              <a:rPr lang="en-US" sz="12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backstop.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4320" y="2834640"/>
            <a:ext cx="8595360" cy="1325880"/>
          </a:xfrm>
          <a:prstGeom prst="rect">
            <a:avLst/>
          </a:prstGeom>
          <a:solidFill>
            <a:srgbClr val="0E0E14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74320" y="283464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74320" y="283464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741664" y="2834640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837676" y="2834640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412851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74320" y="403250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741664" y="4128516"/>
            <a:ext cx="128016" cy="32004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837676" y="4032504"/>
            <a:ext cx="32004" cy="128016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11480" y="2926080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THE SCOPE?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11480" y="329184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1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cluster-admin</a:t>
            </a:r>
            <a:r>
              <a:rPr lang="en-US" sz="1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unprotected. </a:t>
            </a:r>
            <a:r>
              <a:rPr lang="en-US" sz="12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 Role</a:t>
            </a:r>
            <a:r>
              <a:rPr lang="en-US" sz="1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better.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ReducedBoundScope with explicit verbs = </a:t>
            </a:r>
            <a:r>
              <a:rPr lang="en-US" sz="12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backstop.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4320" y="420624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AI IN PROD? REDUCE IDENTITY. REDUCE SCOPE.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20/22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6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6 :: CONTINUE?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365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USE WHAT WE ALREADY KNOW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100584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is a new kind of application.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Restricting malicious actors isn't a new problem.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74320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6227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8134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0042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61949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33856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305763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477670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649578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821485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993392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165299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337206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509114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681021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852928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024835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196742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368650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540557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712464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884371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056278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228186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400093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572000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43907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915814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087722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259629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431536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603443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775350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947258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119165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291072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462979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634886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806794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978701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7150608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7322515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494422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666330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838237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8010144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8182051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8353958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8525866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8697773" y="187452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274320" y="2011680"/>
            <a:ext cx="8595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YOU DON'T GIVE IT ACCESS, IT CAN'T DO ANYTHING.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274320" y="233172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Treat the agent like the most capable malicious actor — if you tell it to be.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274320" y="2788920"/>
            <a:ext cx="8595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 AT THE OS LAYER. MICRO VMs, NOT CONTAINERS.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274320" y="310896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WASM and containers are useful but breakable. Docker Desktop 0-days dropped Apr 6-7, 2025.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7432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446227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61813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79004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961949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113385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1305763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147767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164957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1821485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199339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2165299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233720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250911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2681021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285292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3024835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319674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336865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3540557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371246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3884371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405627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422818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4400093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457200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4743907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491581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508772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5259629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543153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5603443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577535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594725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6119165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629107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6462979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663488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680679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6978701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715060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7322515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7494422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7666330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7838237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8010144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8182051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8353958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8525866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8697773" y="352044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274320" y="3703320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OS-LEVEL ISOLATION IS CURRENTLY THE STRONGEST LINE.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21/22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6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6 :: CONTINUE?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502920"/>
            <a:ext cx="8595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QUESTIONS?</a:t>
            </a:r>
            <a:endParaRPr lang="en-US" sz="6000" dirty="0"/>
          </a:p>
        </p:txBody>
      </p:sp>
      <p:sp>
        <p:nvSpPr>
          <p:cNvPr id="10" name="Shape 8"/>
          <p:cNvSpPr/>
          <p:nvPr/>
        </p:nvSpPr>
        <p:spPr>
          <a:xfrm>
            <a:off x="581193" y="640080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35051" y="640080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27334" y="69393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81193" y="69393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5051" y="69393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88909" y="69393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3476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27334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81193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35051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88909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42767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9618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3476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81193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35051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42767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96625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65760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19618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3476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27334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81193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35051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88909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42767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96625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850483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19618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27334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81193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35051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88909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796625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365760" y="96322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73476" y="96322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742767" y="96322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850483" y="96322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19618" y="101708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527334" y="101708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88909" y="101708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796625" y="101708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8307873" y="640080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8361731" y="640080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8254014" y="69393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8307873" y="69393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8361731" y="69393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8415589" y="693938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8200156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8254014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8307873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8361731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8415589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8469447" y="747796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8146298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8200156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8307873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8361731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8469447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8523305" y="801654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8092440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8146298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8200156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8254014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8307873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8361731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8415589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8469447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8523305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8577163" y="855513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8146298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8254014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8307873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8361731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8415589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8523305" y="909371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8092440" y="96322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8200156" y="96322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8469447" y="96322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8577163" y="963229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8146298" y="101708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8254014" y="101708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8415589" y="101708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8523305" y="1017087"/>
            <a:ext cx="51115" cy="51115"/>
          </a:xfrm>
          <a:prstGeom prst="rect">
            <a:avLst/>
          </a:prstGeom>
          <a:solidFill>
            <a:srgbClr val="FF00DC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274320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446227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618134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790042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961949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1133856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1305763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1477670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1649578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1821485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1993392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2165299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2337206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2509114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2681021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2852928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3024835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3196742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3368650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3540557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3712464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3884371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4056278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4228186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4400093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4572000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4743907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4915814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5087722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5259629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5431536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5603443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5775350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5947258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6119165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6291072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6462979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6634886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6806794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6978701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7150608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>
            <a:off x="7322515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>
            <a:off x="7494422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7666330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7838237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8010144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8182051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8353958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8525866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8697773" y="1554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Text 142"/>
          <p:cNvSpPr/>
          <p:nvPr/>
        </p:nvSpPr>
        <p:spPr>
          <a:xfrm>
            <a:off x="274320" y="178308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TALK REPO, EXAMPLES, BYPASS APPENDIX:</a:t>
            </a:r>
            <a:endParaRPr lang="en-US" sz="1200" dirty="0"/>
          </a:p>
        </p:txBody>
      </p:sp>
      <p:sp>
        <p:nvSpPr>
          <p:cNvPr id="145" name="Text 143"/>
          <p:cNvSpPr/>
          <p:nvPr/>
        </p:nvSpPr>
        <p:spPr>
          <a:xfrm>
            <a:off x="274320" y="2121408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</a:t>
            </a:r>
            <a:r>
              <a:rPr lang="en-US" sz="1800" b="1" dirty="0" err="1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peopleforrester</a:t>
            </a:r>
            <a:r>
              <a:rPr lang="en-US" sz="18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SREday-Texas-2026</a:t>
            </a:r>
            <a:endParaRPr lang="en-US" sz="1800" dirty="0"/>
          </a:p>
        </p:txBody>
      </p:sp>
      <p:sp>
        <p:nvSpPr>
          <p:cNvPr id="146" name="Shape 144"/>
          <p:cNvSpPr/>
          <p:nvPr/>
        </p:nvSpPr>
        <p:spPr>
          <a:xfrm>
            <a:off x="27432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446227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>
            <a:off x="61813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79004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961949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9"/>
          <p:cNvSpPr/>
          <p:nvPr/>
        </p:nvSpPr>
        <p:spPr>
          <a:xfrm>
            <a:off x="113385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1305763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Shape 151"/>
          <p:cNvSpPr/>
          <p:nvPr/>
        </p:nvSpPr>
        <p:spPr>
          <a:xfrm>
            <a:off x="147767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Shape 152"/>
          <p:cNvSpPr/>
          <p:nvPr/>
        </p:nvSpPr>
        <p:spPr>
          <a:xfrm>
            <a:off x="164957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1821485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4"/>
          <p:cNvSpPr/>
          <p:nvPr/>
        </p:nvSpPr>
        <p:spPr>
          <a:xfrm>
            <a:off x="199339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55"/>
          <p:cNvSpPr/>
          <p:nvPr/>
        </p:nvSpPr>
        <p:spPr>
          <a:xfrm>
            <a:off x="2165299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233720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250911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2681021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285292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3024835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319674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336865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3540557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371246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3884371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405627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422818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4400093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457200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4743907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491581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508772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5259629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543153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5603443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577535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594725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6119165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629107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6462979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663488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680679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6978701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715060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7322515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7494422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7666330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7838237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8010144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8182051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8353958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8525866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8697773" y="2697480"/>
            <a:ext cx="91440" cy="45720"/>
          </a:xfrm>
          <a:prstGeom prst="rect">
            <a:avLst/>
          </a:prstGeom>
          <a:solidFill>
            <a:srgbClr val="55555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Text 194"/>
          <p:cNvSpPr/>
          <p:nvPr/>
        </p:nvSpPr>
        <p:spPr>
          <a:xfrm>
            <a:off x="274320" y="288036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3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SPEAKER</a:t>
            </a:r>
            <a:endParaRPr lang="en-US" sz="1000" dirty="0"/>
          </a:p>
        </p:txBody>
      </p:sp>
      <p:sp>
        <p:nvSpPr>
          <p:cNvPr id="197" name="Text 195"/>
          <p:cNvSpPr/>
          <p:nvPr/>
        </p:nvSpPr>
        <p:spPr>
          <a:xfrm>
            <a:off x="274320" y="315468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MICHAEL FORRESTER  ·  @peopleforrester</a:t>
            </a:r>
            <a:endParaRPr lang="en-US" sz="1400" dirty="0"/>
          </a:p>
        </p:txBody>
      </p:sp>
      <p:sp>
        <p:nvSpPr>
          <p:cNvPr id="198" name="Text 196"/>
          <p:cNvSpPr/>
          <p:nvPr/>
        </p:nvSpPr>
        <p:spPr>
          <a:xfrm>
            <a:off x="274320" y="352044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MichaelRishiForrester.com</a:t>
            </a:r>
            <a:endParaRPr lang="en-US" sz="1200" dirty="0"/>
          </a:p>
        </p:txBody>
      </p:sp>
      <p:sp>
        <p:nvSpPr>
          <p:cNvPr id="199" name="Text 197"/>
          <p:cNvSpPr/>
          <p:nvPr/>
        </p:nvSpPr>
        <p:spPr>
          <a:xfrm>
            <a:off x="274320" y="395020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39FF14"/>
                </a:solidFill>
                <a:latin typeface="Courier New" pitchFamily="34" charset="0"/>
                <a:cs typeface="Courier New" pitchFamily="34" charset="-120"/>
              </a:rPr>
              <a:t>@peopleforrester on X/twitter, </a:t>
            </a:r>
            <a:r>
              <a:rPr lang="en-US" sz="1100" b="1" kern="0" spc="200" dirty="0" err="1">
                <a:solidFill>
                  <a:srgbClr val="39FF14"/>
                </a:solidFill>
                <a:latin typeface="Courier New" pitchFamily="34" charset="0"/>
                <a:cs typeface="Courier New" pitchFamily="34" charset="-120"/>
              </a:rPr>
              <a:t>bluesky</a:t>
            </a:r>
            <a:r>
              <a:rPr lang="en-US" sz="1100" b="1" kern="0" spc="200" dirty="0">
                <a:solidFill>
                  <a:srgbClr val="39FF14"/>
                </a:solidFill>
                <a:latin typeface="Courier New" pitchFamily="34" charset="0"/>
                <a:cs typeface="Courier New" pitchFamily="34" charset="-120"/>
              </a:rPr>
              <a:t>, </a:t>
            </a:r>
            <a:r>
              <a:rPr lang="en-US" sz="1100" b="1" kern="0" spc="200" dirty="0" err="1">
                <a:solidFill>
                  <a:srgbClr val="39FF14"/>
                </a:solidFill>
                <a:latin typeface="Courier New" pitchFamily="34" charset="0"/>
                <a:cs typeface="Courier New" pitchFamily="34" charset="-120"/>
              </a:rPr>
              <a:t>hacyderm</a:t>
            </a:r>
            <a:r>
              <a:rPr lang="en-US" sz="1100" b="1" kern="0" spc="200" dirty="0">
                <a:solidFill>
                  <a:srgbClr val="39FF14"/>
                </a:solidFill>
                <a:latin typeface="Courier New" pitchFamily="34" charset="0"/>
                <a:cs typeface="Courier New" pitchFamily="34" charset="-120"/>
              </a:rPr>
              <a:t>, </a:t>
            </a:r>
            <a:r>
              <a:rPr lang="en-US" sz="1100" b="1" kern="0" spc="200" dirty="0" err="1">
                <a:solidFill>
                  <a:srgbClr val="39FF14"/>
                </a:solidFill>
                <a:latin typeface="Courier New" pitchFamily="34" charset="0"/>
                <a:cs typeface="Courier New" pitchFamily="34" charset="-120"/>
              </a:rPr>
              <a:t>github</a:t>
            </a:r>
            <a:r>
              <a:rPr lang="en-US" sz="1100" b="1" kern="0" spc="200" dirty="0">
                <a:solidFill>
                  <a:srgbClr val="39FF14"/>
                </a:solidFill>
                <a:latin typeface="Courier New" pitchFamily="34" charset="0"/>
                <a:cs typeface="Courier New" pitchFamily="34" charset="-120"/>
              </a:rPr>
              <a:t>, </a:t>
            </a:r>
            <a:r>
              <a:rPr lang="en-US" sz="1100" b="1" kern="0" spc="200" dirty="0" err="1">
                <a:solidFill>
                  <a:srgbClr val="39FF14"/>
                </a:solidFill>
                <a:latin typeface="Courier New" pitchFamily="34" charset="0"/>
                <a:cs typeface="Courier New" pitchFamily="34" charset="-120"/>
              </a:rPr>
              <a:t>etc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1UP  22/22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480560"/>
            <a:ext cx="73152" cy="662940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070848" y="4480560"/>
            <a:ext cx="73152" cy="662940"/>
          </a:xfrm>
          <a:prstGeom prst="rect">
            <a:avLst/>
          </a:prstGeom>
          <a:solidFill>
            <a:srgbClr val="FF6B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" y="4480560"/>
            <a:ext cx="8924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6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◄ LEVEL 6 :: CONTINUE? 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" y="4864608"/>
            <a:ext cx="8924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SREDAY AUSTIN Q2  ·  MAY 11, 2026  ·  MICHAEL FORRESTER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29260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6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READING LIST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713232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THIS SITS IN THE BROADER LITERATURE.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078992"/>
            <a:ext cx="4297680" cy="713232"/>
          </a:xfrm>
          <a:prstGeom prst="rect">
            <a:avLst/>
          </a:prstGeom>
          <a:solidFill>
            <a:srgbClr val="0E0E14"/>
          </a:solidFill>
          <a:ln w="12700">
            <a:solidFill>
              <a:srgbClr val="39FF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078992"/>
            <a:ext cx="73152" cy="713232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38912" y="1124712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 TOP 10 FOR LLM APPS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912" y="1408176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catalog (2025).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17720" y="1078992"/>
            <a:ext cx="4297680" cy="713232"/>
          </a:xfrm>
          <a:prstGeom prst="rect">
            <a:avLst/>
          </a:prstGeom>
          <a:solidFill>
            <a:srgbClr val="0E0E14"/>
          </a:solidFill>
          <a:ln w="12700">
            <a:solidFill>
              <a:srgbClr val="39FF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17720" y="1078992"/>
            <a:ext cx="73152" cy="713232"/>
          </a:xfrm>
          <a:prstGeom prst="rect">
            <a:avLst/>
          </a:prstGeom>
          <a:solidFill>
            <a:srgbClr val="39FF1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82312" y="1124712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 AGENTIC AI TOP 10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82312" y="1408176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Excessive Agency (Dec 2025).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847088"/>
            <a:ext cx="4297680" cy="713232"/>
          </a:xfrm>
          <a:prstGeom prst="rect">
            <a:avLst/>
          </a:prstGeom>
          <a:solidFill>
            <a:srgbClr val="0E0E14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1847088"/>
            <a:ext cx="73152" cy="713232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38912" y="1892808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CSA MAESTRO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8912" y="2176272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7-layer threat model (2025).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17720" y="1847088"/>
            <a:ext cx="4297680" cy="713232"/>
          </a:xfrm>
          <a:prstGeom prst="rect">
            <a:avLst/>
          </a:prstGeom>
          <a:solidFill>
            <a:srgbClr val="0E0E14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17720" y="1847088"/>
            <a:ext cx="73152" cy="713232"/>
          </a:xfrm>
          <a:prstGeom prst="rect">
            <a:avLst/>
          </a:prstGeom>
          <a:solidFill>
            <a:srgbClr val="00E5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82312" y="1892808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NIST CSF 2.0 / AI RMF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82312" y="2176272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Identify · Protect · Detect · Respond.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2615184"/>
            <a:ext cx="4297680" cy="713232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2615184"/>
            <a:ext cx="73152" cy="713232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38912" y="2660904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MITRE ATLAS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8912" y="2944368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Adversarial attack catalog.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17720" y="2615184"/>
            <a:ext cx="4297680" cy="713232"/>
          </a:xfrm>
          <a:prstGeom prst="rect">
            <a:avLst/>
          </a:prstGeom>
          <a:solidFill>
            <a:srgbClr val="0E0E14"/>
          </a:solidFill>
          <a:ln w="12700">
            <a:solidFill>
              <a:srgbClr val="FF0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617720" y="2615184"/>
            <a:ext cx="73152" cy="713232"/>
          </a:xfrm>
          <a:prstGeom prst="rect">
            <a:avLst/>
          </a:prstGeom>
          <a:solidFill>
            <a:srgbClr val="FF00D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82312" y="2660904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00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NIST SP 800-207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82312" y="2944368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Trust for non-human actors.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3383280"/>
            <a:ext cx="4297680" cy="713232"/>
          </a:xfrm>
          <a:prstGeom prst="rect">
            <a:avLst/>
          </a:prstGeom>
          <a:solidFill>
            <a:srgbClr val="0E0E14"/>
          </a:solidFill>
          <a:ln w="12700">
            <a:solidFill>
              <a:srgbClr val="FFE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74320" y="3383280"/>
            <a:ext cx="73152" cy="713232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38912" y="342900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WILLISON: LETHAL TRIFECTA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3712464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+ untrusted content + comms.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617720" y="3383280"/>
            <a:ext cx="4297680" cy="713232"/>
          </a:xfrm>
          <a:prstGeom prst="rect">
            <a:avLst/>
          </a:prstGeom>
          <a:solidFill>
            <a:srgbClr val="0E0E14"/>
          </a:solidFill>
          <a:ln w="12700">
            <a:solidFill>
              <a:srgbClr val="FFE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617720" y="3383280"/>
            <a:ext cx="73152" cy="713232"/>
          </a:xfrm>
          <a:prstGeom prst="rect">
            <a:avLst/>
          </a:prstGeom>
          <a:solidFill>
            <a:srgbClr val="FFE5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82312" y="342900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E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RSP / PREPAREDNESS / FSP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782312" y="3712464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 capability frameworks.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1790</Words>
  <Application>Microsoft Office PowerPoint</Application>
  <PresentationFormat>On-screen Show (16:9)</PresentationFormat>
  <Paragraphs>359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Day an AI Agent Deleted My Cluster</dc:title>
  <dc:subject>PptxGenJS Presentation</dc:subject>
  <dc:creator>Michael Forrester — Accenture</dc:creator>
  <cp:lastModifiedBy>Michael Forrester</cp:lastModifiedBy>
  <cp:revision>2</cp:revision>
  <dcterms:created xsi:type="dcterms:W3CDTF">2026-05-11T14:57:16Z</dcterms:created>
  <dcterms:modified xsi:type="dcterms:W3CDTF">2026-05-11T15:11:36Z</dcterms:modified>
</cp:coreProperties>
</file>